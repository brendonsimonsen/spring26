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02" r:id="rId2"/>
    <p:sldId id="301" r:id="rId3"/>
    <p:sldId id="303" r:id="rId4"/>
    <p:sldId id="314" r:id="rId5"/>
    <p:sldId id="315" r:id="rId6"/>
    <p:sldId id="304" r:id="rId7"/>
    <p:sldId id="307" r:id="rId8"/>
    <p:sldId id="305" r:id="rId9"/>
    <p:sldId id="306" r:id="rId10"/>
    <p:sldId id="316" r:id="rId11"/>
    <p:sldId id="317" r:id="rId12"/>
    <p:sldId id="308" r:id="rId13"/>
    <p:sldId id="309" r:id="rId14"/>
    <p:sldId id="313" r:id="rId15"/>
    <p:sldId id="311" r:id="rId16"/>
    <p:sldId id="312" r:id="rId17"/>
    <p:sldId id="31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2365"/>
    <a:srgbClr val="814C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5229" autoAdjust="0"/>
  </p:normalViewPr>
  <p:slideViewPr>
    <p:cSldViewPr snapToGrid="0">
      <p:cViewPr varScale="1">
        <p:scale>
          <a:sx n="70" d="100"/>
          <a:sy n="70" d="100"/>
        </p:scale>
        <p:origin x="116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C3651F-1BD0-41EC-B2C1-B7071D937A3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94DFB9-5FED-4E12-A875-3A69DD348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994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paper was published at </a:t>
            </a:r>
            <a:r>
              <a:rPr lang="en-US" b="1" dirty="0"/>
              <a:t>ISCA 2024</a:t>
            </a:r>
            <a:r>
              <a:rPr lang="en-US" dirty="0"/>
              <a:t>, one of the top computer architecture conferences.</a:t>
            </a:r>
          </a:p>
          <a:p>
            <a:r>
              <a:rPr lang="en-US" dirty="0"/>
              <a:t>The work proposes a microarchitectural optimization called </a:t>
            </a:r>
            <a:r>
              <a:rPr lang="en-US" b="1" dirty="0"/>
              <a:t>Constable</a:t>
            </a:r>
            <a:r>
              <a:rPr lang="en-US" dirty="0"/>
              <a:t>.</a:t>
            </a:r>
          </a:p>
          <a:p>
            <a:r>
              <a:rPr lang="en-US" dirty="0"/>
              <a:t>The key idea is </a:t>
            </a:r>
            <a:r>
              <a:rPr lang="en-US" b="1" dirty="0"/>
              <a:t>eliminating certain load instructions entirely</a:t>
            </a:r>
            <a:r>
              <a:rPr lang="en-US" dirty="0"/>
              <a:t> to improve CPU performance and energy efficiency.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94DFB9-5FED-4E12-A875-3A69DD3485F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887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Load instructions frequently appear in loops.</a:t>
            </a:r>
          </a:p>
          <a:p>
            <a:r>
              <a:rPr lang="en-US" dirty="0"/>
              <a:t>Many variables remain constant for long periods.</a:t>
            </a:r>
          </a:p>
          <a:p>
            <a:r>
              <a:rPr lang="en-US" dirty="0"/>
              <a:t>Executing these loads repeatedly wastes resources.</a:t>
            </a:r>
          </a:p>
          <a:p>
            <a:r>
              <a:rPr lang="en-US" dirty="0"/>
              <a:t>The paper asks: </a:t>
            </a:r>
            <a:r>
              <a:rPr lang="en-US" b="1" dirty="0"/>
              <a:t>What if we could safely skip these loads?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94DFB9-5FED-4E12-A875-3A69DD3485F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501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CPU already knows what value the load will return, it can reuse the value.</a:t>
            </a:r>
          </a:p>
          <a:p>
            <a:r>
              <a:rPr lang="en-US" dirty="0"/>
              <a:t>This removes the need to access the memory hierarchy.</a:t>
            </a:r>
          </a:p>
          <a:p>
            <a:r>
              <a:rPr lang="en-US" dirty="0"/>
              <a:t>That improves both </a:t>
            </a:r>
            <a:r>
              <a:rPr lang="en-US" b="1" dirty="0"/>
              <a:t>performance and energy efficiency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94DFB9-5FED-4E12-A875-3A69DD3485F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14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hardware structures work together.</a:t>
            </a:r>
          </a:p>
          <a:p>
            <a:r>
              <a:rPr lang="en-US" dirty="0"/>
              <a:t>Detection identifies candidate loads.</a:t>
            </a:r>
          </a:p>
          <a:p>
            <a:r>
              <a:rPr lang="en-US" dirty="0"/>
              <a:t>Monitoring ensures correctness.</a:t>
            </a:r>
          </a:p>
          <a:p>
            <a:r>
              <a:rPr lang="en-US" dirty="0"/>
              <a:t>If safe, the load is replaced with a simple value move.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94DFB9-5FED-4E12-A875-3A69DD3485F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694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hardware monitors loads dynamically.</a:t>
            </a:r>
          </a:p>
          <a:p>
            <a:r>
              <a:rPr lang="en-US" dirty="0"/>
              <a:t>When a load repeatedly produces the same value, the system builds confidence.</a:t>
            </a:r>
          </a:p>
          <a:p>
            <a:r>
              <a:rPr lang="en-US" dirty="0"/>
              <a:t>After reaching a threshold, the load is marked as </a:t>
            </a:r>
            <a:r>
              <a:rPr lang="en-US" b="1" dirty="0"/>
              <a:t>stable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94DFB9-5FED-4E12-A875-3A69DD3485F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568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Eliminating loads is only safe if the value truly hasn’t changed.</a:t>
            </a:r>
          </a:p>
          <a:p>
            <a:r>
              <a:rPr lang="en-US" dirty="0"/>
              <a:t>The architecture tracks register updates and memory writes.</a:t>
            </a:r>
          </a:p>
          <a:p>
            <a:r>
              <a:rPr lang="en-US" dirty="0"/>
              <a:t>If anything changes, the load is re-executed to ensure correctness.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94DFB9-5FED-4E12-A875-3A69DD3485F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243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74082-A0FA-757D-1174-63EABC39B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6CBCB6-9ADE-DCC2-A9B3-D9DE2F04AC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E69F6F-F402-3401-5048-05C75010ED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Programs are running 5.1% faster</a:t>
            </a:r>
          </a:p>
          <a:p>
            <a:r>
              <a:rPr lang="en-US" dirty="0"/>
              <a:t>Dynamic power is the </a:t>
            </a:r>
            <a:r>
              <a:rPr lang="en-US" b="0" dirty="0"/>
              <a:t>energy consumed when transistors switch during execution.</a:t>
            </a:r>
          </a:p>
          <a:p>
            <a:r>
              <a:rPr lang="en-US" b="0" dirty="0"/>
              <a:t>(SMT)</a:t>
            </a:r>
            <a:r>
              <a:rPr lang="en-US" dirty="0"/>
              <a:t> allows multiple threads to run on the same CPU core at the same time.</a:t>
            </a:r>
            <a:endParaRPr lang="en-US" b="0" dirty="0"/>
          </a:p>
          <a:p>
            <a:r>
              <a:rPr lang="en-US" dirty="0"/>
              <a:t>The paper evaluates Constable using </a:t>
            </a:r>
            <a:r>
              <a:rPr lang="en-US" b="0" dirty="0"/>
              <a:t>standard benchmark suites commonly used in computer architecture research</a:t>
            </a:r>
          </a:p>
          <a:p>
            <a:r>
              <a:rPr lang="en-US" dirty="0"/>
              <a:t>Constable requires about 12 kilobytes of additional hardware storage inside each CPU core.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2EFFAE-C5A2-740A-2CFD-DB7B899586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94DFB9-5FED-4E12-A875-3A69DD3485F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7100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Programs are running 5.1% faster</a:t>
            </a:r>
          </a:p>
          <a:p>
            <a:r>
              <a:rPr lang="en-US" dirty="0"/>
              <a:t>Dynamic power is the </a:t>
            </a:r>
            <a:r>
              <a:rPr lang="en-US" b="0" dirty="0"/>
              <a:t>energy consumed when transistors switch during execution.</a:t>
            </a:r>
          </a:p>
          <a:p>
            <a:r>
              <a:rPr lang="en-US" b="0" dirty="0"/>
              <a:t>(SMT)</a:t>
            </a:r>
            <a:r>
              <a:rPr lang="en-US" dirty="0"/>
              <a:t> allows multiple threads to run on the same CPU core at the same time.</a:t>
            </a:r>
            <a:endParaRPr lang="en-US" b="0" dirty="0"/>
          </a:p>
          <a:p>
            <a:r>
              <a:rPr lang="en-US" dirty="0"/>
              <a:t>The paper evaluates Constable using </a:t>
            </a:r>
            <a:r>
              <a:rPr lang="en-US" b="0" dirty="0"/>
              <a:t>standard benchmark suites commonly used in computer architecture research</a:t>
            </a:r>
          </a:p>
          <a:p>
            <a:r>
              <a:rPr lang="en-US" dirty="0"/>
              <a:t>Constable requires about 12 kilobytes of additional hardware storage inside each CPU core.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94DFB9-5FED-4E12-A875-3A69DD3485F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162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 insight is that some instructions are redundant.</a:t>
            </a:r>
          </a:p>
          <a:p>
            <a:r>
              <a:rPr lang="en-US" dirty="0"/>
              <a:t>Eliminating them directly improves efficiency.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94DFB9-5FED-4E12-A875-3A69DD3485F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66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99762-56CF-5855-17A5-1CF36AF10C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2C94B9-0061-C893-E9BD-49654C5627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23906-F060-C85D-58D2-5FBAB8D5A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A7907-436B-4865-A87B-668DF66505E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FCA5C-AB38-88B5-5327-F329F3DCB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312F2-403F-2E30-17E1-329731BA3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C2F0F-6908-47D8-8007-E73DB2CE1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618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7662B-DE6D-1714-7AA2-E6B27DE2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0015E-4966-357D-DA13-D18B52A61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ABE5B-E45D-ADEC-A454-7DC71E4B6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A7907-436B-4865-A87B-668DF66505E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1766F-BF5A-E20E-5015-CC5840F59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3E29D-014D-3378-E807-4AA9EADAC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C2F0F-6908-47D8-8007-E73DB2CE1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619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14849-056B-5A37-49D5-042638D9E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876D0-945F-D183-1CD6-7BE5CC594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40FC9-D63E-65FA-9993-A27819970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A7907-436B-4865-A87B-668DF66505E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A5AE8-1991-2ED1-A42C-97EA0132F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2BEF8-3C99-7221-0741-A97F60477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C2F0F-6908-47D8-8007-E73DB2CE1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547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C94E9-3355-9B2F-B056-EAF3D35BB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A1F58-E0FC-01EB-3787-3EDF5F2680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9E259-20EB-56D1-DF13-5C09FCA53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B87A91-8382-FCDB-E5C8-FF5B08D36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A7907-436B-4865-A87B-668DF66505E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5CE3EA-134B-B8E7-827D-E86E43F6B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07741-6338-EF81-6FDF-3C435519C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C2F0F-6908-47D8-8007-E73DB2CE1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356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41989-0845-0BBD-D484-C7C1945B4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A1FE1-AADA-3D4C-AD19-5F373E195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EF4576-BE4E-34A6-EC79-8758CFD1BE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F8FBDF-C3C9-B3B0-97B2-BEAFBC6C0F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9E8B15-E28C-A5D9-8E28-E4105E2259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39C996-E711-69A2-F9F5-4519ED88D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A7907-436B-4865-A87B-668DF66505E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47BE34-D002-5AEE-83A4-F33AFDC8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1BB976-60C9-CC8B-75A3-72A449FA7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C2F0F-6908-47D8-8007-E73DB2CE1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681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0132B-89A8-1768-3DAD-AF24320F4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4DD7C6-09B7-96E4-8852-C2A6A6E0F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A7907-436B-4865-A87B-668DF66505E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9F8153-70F5-7261-8F50-92DDCE7EC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6F68E1-6328-DC94-6C55-0ED158D1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C2F0F-6908-47D8-8007-E73DB2CE1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044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952D39-7E62-A1A3-406E-DD00FA93A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A7907-436B-4865-A87B-668DF66505E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638FDA-A39D-56F1-C7AE-33575FA00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CDD17-901A-ED95-0C7D-CA1DEBD0A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C2F0F-6908-47D8-8007-E73DB2CE1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29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EA0F5-ABAA-EEF3-8427-812210BD7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5F4E5-D378-BAD5-400C-C891D950B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EB5E4F-3DB8-870F-A367-F2727A5FBC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805DB3-F624-00E3-71EB-8634533D3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A7907-436B-4865-A87B-668DF66505E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8EBE5F-9A4E-276F-A5F5-081655945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D4001-45EC-6C55-14E0-3ECA468BA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C2F0F-6908-47D8-8007-E73DB2CE1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77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DB6FC-F1A6-A2A5-5935-B15B5C111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2D8CB0-8267-1B35-86FC-A325F5D992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B2908F-3AD9-45EA-7797-D1652B4120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19D1BA-EF3A-FD15-72A7-0E1A5416D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A7907-436B-4865-A87B-668DF66505E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17C88-A675-3C42-6DDA-FB16D002C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7814E1-A6AD-A1CF-FC8D-571F1A4EF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C2F0F-6908-47D8-8007-E73DB2CE1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077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D1850-7081-150C-84F7-59A0B1433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E9E0D2-CD41-2DF0-4839-0898B9971E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7C69C-09F5-7504-25B5-C179DFDB2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A7907-436B-4865-A87B-668DF66505E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E4588-DDAA-EEC3-CC01-73FA4E1B9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C689C-268F-5922-0349-7EDCB344F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C2F0F-6908-47D8-8007-E73DB2CE1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98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388E66-FB53-EC92-FC50-6B0EAE7D1B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7DAC0-6D37-3279-B075-70EB3E8FE0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0E44B-E154-4055-0BFE-D6A27D6BD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A7907-436B-4865-A87B-668DF66505E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17ACF-2859-204B-AB79-8C2580742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20E9C-F378-F6E3-55CD-BCF29CA96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C2F0F-6908-47D8-8007-E73DB2CE1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995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B66B7F-01C9-9D2F-06E3-23F3393C2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BC5C23-941E-4BE9-A6A4-53F3F5271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3DC8F-7798-CE7C-BFEF-14531FA839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2A7907-436B-4865-A87B-668DF66505E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AC54B-09AE-0F96-BC5B-691758B4A8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685E5-3131-BC28-011E-2BB68CCFA6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BC2F0F-6908-47D8-8007-E73DB2CE1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30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19469B-8392-894E-A217-85D31C576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9467" y="-41975"/>
            <a:ext cx="12369790" cy="703270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A857129-DBCE-A944-BB58-2D05B7ABB9FD}"/>
              </a:ext>
            </a:extLst>
          </p:cNvPr>
          <p:cNvSpPr/>
          <p:nvPr/>
        </p:nvSpPr>
        <p:spPr>
          <a:xfrm>
            <a:off x="0" y="934113"/>
            <a:ext cx="10718276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8000" b="1" dirty="0">
                <a:solidFill>
                  <a:schemeClr val="bg1"/>
                </a:solidFill>
                <a:latin typeface="Trade Gothic LT Std Bold" panose="020B0503020502020204" pitchFamily="34" charset="77"/>
              </a:rPr>
              <a:t>Research Paper Presentation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A7EFA0-CB4E-A748-BC12-DC319D35F499}"/>
              </a:ext>
            </a:extLst>
          </p:cNvPr>
          <p:cNvSpPr/>
          <p:nvPr/>
        </p:nvSpPr>
        <p:spPr>
          <a:xfrm>
            <a:off x="3302485" y="3707738"/>
            <a:ext cx="411330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dirty="0">
                <a:solidFill>
                  <a:srgbClr val="A391B1"/>
                </a:solidFill>
                <a:latin typeface="Trade Gothic LT Std" panose="020B0503020502020204" pitchFamily="34" charset="77"/>
              </a:rPr>
              <a:t>Brendon Simonsen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5E5AEB-2D1C-639D-1A9D-ED1DFB43D533}"/>
              </a:ext>
            </a:extLst>
          </p:cNvPr>
          <p:cNvSpPr/>
          <p:nvPr/>
        </p:nvSpPr>
        <p:spPr>
          <a:xfrm>
            <a:off x="9842090" y="-41975"/>
            <a:ext cx="2349910" cy="70327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black and white logo&#10;&#10;Description automatically generated">
            <a:extLst>
              <a:ext uri="{FF2B5EF4-FFF2-40B4-BE49-F238E27FC236}">
                <a16:creationId xmlns:a16="http://schemas.microsoft.com/office/drawing/2014/main" id="{43625AC2-C129-45C3-456B-3473A3E8D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090" y="4788592"/>
            <a:ext cx="2334755" cy="182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074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28D17-A69C-A16B-F2E6-D9010285F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86A1B93A-0B41-C463-1155-F91E743B355C}"/>
              </a:ext>
            </a:extLst>
          </p:cNvPr>
          <p:cNvSpPr/>
          <p:nvPr/>
        </p:nvSpPr>
        <p:spPr>
          <a:xfrm>
            <a:off x="-31821" y="5702116"/>
            <a:ext cx="1728216" cy="576072"/>
          </a:xfrm>
          <a:custGeom>
            <a:avLst/>
            <a:gdLst>
              <a:gd name="connsiteX0" fmla="*/ 0 w 1728216"/>
              <a:gd name="connsiteY0" fmla="*/ 521208 h 576072"/>
              <a:gd name="connsiteX1" fmla="*/ 210312 w 1728216"/>
              <a:gd name="connsiteY1" fmla="*/ 265176 h 576072"/>
              <a:gd name="connsiteX2" fmla="*/ 292608 w 1728216"/>
              <a:gd name="connsiteY2" fmla="*/ 283464 h 576072"/>
              <a:gd name="connsiteX3" fmla="*/ 384048 w 1728216"/>
              <a:gd name="connsiteY3" fmla="*/ 118872 h 576072"/>
              <a:gd name="connsiteX4" fmla="*/ 457200 w 1728216"/>
              <a:gd name="connsiteY4" fmla="*/ 192024 h 576072"/>
              <a:gd name="connsiteX5" fmla="*/ 804672 w 1728216"/>
              <a:gd name="connsiteY5" fmla="*/ 0 h 576072"/>
              <a:gd name="connsiteX6" fmla="*/ 923544 w 1728216"/>
              <a:gd name="connsiteY6" fmla="*/ 36576 h 576072"/>
              <a:gd name="connsiteX7" fmla="*/ 1069848 w 1728216"/>
              <a:gd name="connsiteY7" fmla="*/ 128016 h 576072"/>
              <a:gd name="connsiteX8" fmla="*/ 1124712 w 1728216"/>
              <a:gd name="connsiteY8" fmla="*/ 210312 h 576072"/>
              <a:gd name="connsiteX9" fmla="*/ 1307592 w 1728216"/>
              <a:gd name="connsiteY9" fmla="*/ 91440 h 576072"/>
              <a:gd name="connsiteX10" fmla="*/ 1728216 w 1728216"/>
              <a:gd name="connsiteY10" fmla="*/ 576072 h 576072"/>
              <a:gd name="connsiteX11" fmla="*/ 0 w 1728216"/>
              <a:gd name="connsiteY11" fmla="*/ 521208 h 57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28216" h="576072">
                <a:moveTo>
                  <a:pt x="0" y="521208"/>
                </a:moveTo>
                <a:lnTo>
                  <a:pt x="210312" y="265176"/>
                </a:lnTo>
                <a:lnTo>
                  <a:pt x="292608" y="283464"/>
                </a:lnTo>
                <a:lnTo>
                  <a:pt x="384048" y="118872"/>
                </a:lnTo>
                <a:lnTo>
                  <a:pt x="457200" y="192024"/>
                </a:lnTo>
                <a:lnTo>
                  <a:pt x="804672" y="0"/>
                </a:lnTo>
                <a:lnTo>
                  <a:pt x="923544" y="36576"/>
                </a:lnTo>
                <a:lnTo>
                  <a:pt x="1069848" y="128016"/>
                </a:lnTo>
                <a:lnTo>
                  <a:pt x="1124712" y="210312"/>
                </a:lnTo>
                <a:lnTo>
                  <a:pt x="1307592" y="91440"/>
                </a:lnTo>
                <a:lnTo>
                  <a:pt x="1728216" y="576072"/>
                </a:lnTo>
                <a:lnTo>
                  <a:pt x="0" y="521208"/>
                </a:lnTo>
                <a:close/>
              </a:path>
            </a:pathLst>
          </a:custGeom>
          <a:solidFill>
            <a:srgbClr val="81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3D11CE-579E-AACB-B18C-333630E65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786" y="5668288"/>
            <a:ext cx="1689100" cy="5588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07319BF-D04B-9DBD-F6BF-5FCDAE72FF47}"/>
              </a:ext>
            </a:extLst>
          </p:cNvPr>
          <p:cNvSpPr/>
          <p:nvPr/>
        </p:nvSpPr>
        <p:spPr>
          <a:xfrm>
            <a:off x="-9145" y="6126677"/>
            <a:ext cx="12266899" cy="758756"/>
          </a:xfrm>
          <a:prstGeom prst="rect">
            <a:avLst/>
          </a:prstGeom>
          <a:solidFill>
            <a:srgbClr val="81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D22A069D-4FE8-4ADA-9772-B99D567E7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10" y="6227088"/>
            <a:ext cx="3626722" cy="584306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22A085C-C0C8-1865-7E9D-235CCA867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E555-4FC5-CD4D-8BC2-3698C6BF6755}" type="slidenum">
              <a:rPr lang="en-US" smtClean="0"/>
              <a:t>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1E5812-4D7A-F016-5201-E891B835C643}"/>
              </a:ext>
            </a:extLst>
          </p:cNvPr>
          <p:cNvSpPr txBox="1"/>
          <p:nvPr/>
        </p:nvSpPr>
        <p:spPr>
          <a:xfrm>
            <a:off x="395111" y="335523"/>
            <a:ext cx="1125502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72365"/>
                </a:solidFill>
                <a:latin typeface="Trade Gothic LT Std" panose="020B0503020502020204" pitchFamily="34" charset="77"/>
              </a:rPr>
              <a:t>Title:</a:t>
            </a:r>
            <a:b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</a:b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Constable: Improving Performance and Power Efficiency by Safely Eliminating Load Instruction Execution</a:t>
            </a:r>
          </a:p>
          <a:p>
            <a:r>
              <a:rPr lang="en-US" sz="3200" b="1" dirty="0">
                <a:solidFill>
                  <a:srgbClr val="472365"/>
                </a:solidFill>
                <a:latin typeface="Trade Gothic LT Std" panose="020B0503020502020204" pitchFamily="34" charset="77"/>
              </a:rPr>
              <a:t>Authors:</a:t>
            </a:r>
            <a:b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</a:b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Rahul Bera; Adithya Ranganathan; Joydeep Rakshit; Sujit Mahto; Anant V. Nori; Jayesh Gaur</a:t>
            </a:r>
          </a:p>
          <a:p>
            <a:r>
              <a:rPr lang="en-US" sz="3200" b="1" dirty="0">
                <a:solidFill>
                  <a:srgbClr val="472365"/>
                </a:solidFill>
                <a:latin typeface="Trade Gothic LT Std" panose="020B0503020502020204" pitchFamily="34" charset="77"/>
              </a:rPr>
              <a:t>Publication Venue:</a:t>
            </a:r>
            <a:b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</a:b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ISCA 2024 (ACM/IEEE International Symposium on Computer Architecture)</a:t>
            </a:r>
          </a:p>
          <a:p>
            <a:endParaRPr lang="en-US" sz="3200" dirty="0">
              <a:solidFill>
                <a:srgbClr val="472365"/>
              </a:solidFill>
              <a:latin typeface="Trade Gothic LT Std" panose="020B05030205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17498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C7393-2023-DA98-2EA3-BB31EF701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A5A9248-D20B-ED2B-B025-DF0D5BA226C1}"/>
              </a:ext>
            </a:extLst>
          </p:cNvPr>
          <p:cNvCxnSpPr>
            <a:cxnSpLocks/>
          </p:cNvCxnSpPr>
          <p:nvPr/>
        </p:nvCxnSpPr>
        <p:spPr>
          <a:xfrm>
            <a:off x="-74899" y="1313298"/>
            <a:ext cx="12365222" cy="0"/>
          </a:xfrm>
          <a:prstGeom prst="line">
            <a:avLst/>
          </a:prstGeom>
          <a:ln w="57150">
            <a:solidFill>
              <a:srgbClr val="4723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reeform 11">
            <a:extLst>
              <a:ext uri="{FF2B5EF4-FFF2-40B4-BE49-F238E27FC236}">
                <a16:creationId xmlns:a16="http://schemas.microsoft.com/office/drawing/2014/main" id="{490752AD-2037-38C1-1222-035E27732D21}"/>
              </a:ext>
            </a:extLst>
          </p:cNvPr>
          <p:cNvSpPr/>
          <p:nvPr/>
        </p:nvSpPr>
        <p:spPr>
          <a:xfrm>
            <a:off x="-31821" y="5702116"/>
            <a:ext cx="1728216" cy="576072"/>
          </a:xfrm>
          <a:custGeom>
            <a:avLst/>
            <a:gdLst>
              <a:gd name="connsiteX0" fmla="*/ 0 w 1728216"/>
              <a:gd name="connsiteY0" fmla="*/ 521208 h 576072"/>
              <a:gd name="connsiteX1" fmla="*/ 210312 w 1728216"/>
              <a:gd name="connsiteY1" fmla="*/ 265176 h 576072"/>
              <a:gd name="connsiteX2" fmla="*/ 292608 w 1728216"/>
              <a:gd name="connsiteY2" fmla="*/ 283464 h 576072"/>
              <a:gd name="connsiteX3" fmla="*/ 384048 w 1728216"/>
              <a:gd name="connsiteY3" fmla="*/ 118872 h 576072"/>
              <a:gd name="connsiteX4" fmla="*/ 457200 w 1728216"/>
              <a:gd name="connsiteY4" fmla="*/ 192024 h 576072"/>
              <a:gd name="connsiteX5" fmla="*/ 804672 w 1728216"/>
              <a:gd name="connsiteY5" fmla="*/ 0 h 576072"/>
              <a:gd name="connsiteX6" fmla="*/ 923544 w 1728216"/>
              <a:gd name="connsiteY6" fmla="*/ 36576 h 576072"/>
              <a:gd name="connsiteX7" fmla="*/ 1069848 w 1728216"/>
              <a:gd name="connsiteY7" fmla="*/ 128016 h 576072"/>
              <a:gd name="connsiteX8" fmla="*/ 1124712 w 1728216"/>
              <a:gd name="connsiteY8" fmla="*/ 210312 h 576072"/>
              <a:gd name="connsiteX9" fmla="*/ 1307592 w 1728216"/>
              <a:gd name="connsiteY9" fmla="*/ 91440 h 576072"/>
              <a:gd name="connsiteX10" fmla="*/ 1728216 w 1728216"/>
              <a:gd name="connsiteY10" fmla="*/ 576072 h 576072"/>
              <a:gd name="connsiteX11" fmla="*/ 0 w 1728216"/>
              <a:gd name="connsiteY11" fmla="*/ 521208 h 57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28216" h="576072">
                <a:moveTo>
                  <a:pt x="0" y="521208"/>
                </a:moveTo>
                <a:lnTo>
                  <a:pt x="210312" y="265176"/>
                </a:lnTo>
                <a:lnTo>
                  <a:pt x="292608" y="283464"/>
                </a:lnTo>
                <a:lnTo>
                  <a:pt x="384048" y="118872"/>
                </a:lnTo>
                <a:lnTo>
                  <a:pt x="457200" y="192024"/>
                </a:lnTo>
                <a:lnTo>
                  <a:pt x="804672" y="0"/>
                </a:lnTo>
                <a:lnTo>
                  <a:pt x="923544" y="36576"/>
                </a:lnTo>
                <a:lnTo>
                  <a:pt x="1069848" y="128016"/>
                </a:lnTo>
                <a:lnTo>
                  <a:pt x="1124712" y="210312"/>
                </a:lnTo>
                <a:lnTo>
                  <a:pt x="1307592" y="91440"/>
                </a:lnTo>
                <a:lnTo>
                  <a:pt x="1728216" y="576072"/>
                </a:lnTo>
                <a:lnTo>
                  <a:pt x="0" y="521208"/>
                </a:lnTo>
                <a:close/>
              </a:path>
            </a:pathLst>
          </a:custGeom>
          <a:solidFill>
            <a:srgbClr val="81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D95AF0-3C4C-797C-8539-8C2793E99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786" y="5668288"/>
            <a:ext cx="1689100" cy="5588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C43079E-3A8F-B01E-5B8B-4083114443D8}"/>
              </a:ext>
            </a:extLst>
          </p:cNvPr>
          <p:cNvSpPr/>
          <p:nvPr/>
        </p:nvSpPr>
        <p:spPr>
          <a:xfrm>
            <a:off x="-9145" y="6126677"/>
            <a:ext cx="12266899" cy="758756"/>
          </a:xfrm>
          <a:prstGeom prst="rect">
            <a:avLst/>
          </a:prstGeom>
          <a:solidFill>
            <a:srgbClr val="81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213E7DAA-8A63-FC2E-32A8-244CA59FA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10" y="6227088"/>
            <a:ext cx="3626722" cy="584306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9625FB-1364-11B5-AD34-EADAF76AB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E555-4FC5-CD4D-8BC2-3698C6BF6755}" type="slidenum">
              <a:rPr lang="en-US" smtClean="0"/>
              <a:t>3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EA6A68-6BD3-A385-676A-E3CA6A6BACDD}"/>
              </a:ext>
            </a:extLst>
          </p:cNvPr>
          <p:cNvSpPr txBox="1"/>
          <p:nvPr/>
        </p:nvSpPr>
        <p:spPr>
          <a:xfrm>
            <a:off x="-20786" y="115932"/>
            <a:ext cx="122127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spc="-150" dirty="0">
                <a:solidFill>
                  <a:srgbClr val="472365"/>
                </a:solidFill>
                <a:latin typeface="Trade Gothic LT Std Bold" panose="020B0503020502020204" pitchFamily="34" charset="77"/>
              </a:rPr>
              <a:t>The Problem</a:t>
            </a:r>
            <a:endParaRPr lang="en-US" sz="4000" b="1" spc="-150" dirty="0">
              <a:solidFill>
                <a:srgbClr val="472365"/>
              </a:solidFill>
              <a:latin typeface="Trade Gothic LT Std Bold" panose="020B0503020502020204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B74197-19EE-27BE-1242-0603D666C12C}"/>
              </a:ext>
            </a:extLst>
          </p:cNvPr>
          <p:cNvSpPr txBox="1"/>
          <p:nvPr/>
        </p:nvSpPr>
        <p:spPr>
          <a:xfrm>
            <a:off x="480000" y="1488539"/>
            <a:ext cx="791856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72365"/>
                </a:solidFill>
                <a:latin typeface="Trade Gothic LT Std" panose="020B0503020502020204" pitchFamily="34" charset="77"/>
              </a:rPr>
              <a:t>Why Focus on Load Instructions?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Loads are very common in modern programs</a:t>
            </a:r>
          </a:p>
          <a:p>
            <a:r>
              <a:rPr lang="en-US" sz="3200" b="1" dirty="0">
                <a:solidFill>
                  <a:srgbClr val="472365"/>
                </a:solidFill>
                <a:latin typeface="Trade Gothic LT Std" panose="020B0503020502020204" pitchFamily="34" charset="77"/>
              </a:rPr>
              <a:t>They introduce: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Memory latency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Pipeline resource usage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Data dependencies</a:t>
            </a:r>
          </a:p>
          <a:p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Memory accesses consume significant power</a:t>
            </a:r>
          </a:p>
        </p:txBody>
      </p:sp>
    </p:spTree>
    <p:extLst>
      <p:ext uri="{BB962C8B-B14F-4D97-AF65-F5344CB8AC3E}">
        <p14:creationId xmlns:p14="http://schemas.microsoft.com/office/powerpoint/2010/main" val="1538162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4A360-FB84-11C5-29A2-E8A59B2D7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5768458-4E79-C69C-1C3F-BB51FF1D849E}"/>
              </a:ext>
            </a:extLst>
          </p:cNvPr>
          <p:cNvCxnSpPr>
            <a:cxnSpLocks/>
          </p:cNvCxnSpPr>
          <p:nvPr/>
        </p:nvCxnSpPr>
        <p:spPr>
          <a:xfrm>
            <a:off x="-74899" y="1313298"/>
            <a:ext cx="12365222" cy="0"/>
          </a:xfrm>
          <a:prstGeom prst="line">
            <a:avLst/>
          </a:prstGeom>
          <a:ln w="57150">
            <a:solidFill>
              <a:srgbClr val="4723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reeform 11">
            <a:extLst>
              <a:ext uri="{FF2B5EF4-FFF2-40B4-BE49-F238E27FC236}">
                <a16:creationId xmlns:a16="http://schemas.microsoft.com/office/drawing/2014/main" id="{72F36751-210E-2973-2585-4480708CECE4}"/>
              </a:ext>
            </a:extLst>
          </p:cNvPr>
          <p:cNvSpPr/>
          <p:nvPr/>
        </p:nvSpPr>
        <p:spPr>
          <a:xfrm>
            <a:off x="-31821" y="5702116"/>
            <a:ext cx="1728216" cy="576072"/>
          </a:xfrm>
          <a:custGeom>
            <a:avLst/>
            <a:gdLst>
              <a:gd name="connsiteX0" fmla="*/ 0 w 1728216"/>
              <a:gd name="connsiteY0" fmla="*/ 521208 h 576072"/>
              <a:gd name="connsiteX1" fmla="*/ 210312 w 1728216"/>
              <a:gd name="connsiteY1" fmla="*/ 265176 h 576072"/>
              <a:gd name="connsiteX2" fmla="*/ 292608 w 1728216"/>
              <a:gd name="connsiteY2" fmla="*/ 283464 h 576072"/>
              <a:gd name="connsiteX3" fmla="*/ 384048 w 1728216"/>
              <a:gd name="connsiteY3" fmla="*/ 118872 h 576072"/>
              <a:gd name="connsiteX4" fmla="*/ 457200 w 1728216"/>
              <a:gd name="connsiteY4" fmla="*/ 192024 h 576072"/>
              <a:gd name="connsiteX5" fmla="*/ 804672 w 1728216"/>
              <a:gd name="connsiteY5" fmla="*/ 0 h 576072"/>
              <a:gd name="connsiteX6" fmla="*/ 923544 w 1728216"/>
              <a:gd name="connsiteY6" fmla="*/ 36576 h 576072"/>
              <a:gd name="connsiteX7" fmla="*/ 1069848 w 1728216"/>
              <a:gd name="connsiteY7" fmla="*/ 128016 h 576072"/>
              <a:gd name="connsiteX8" fmla="*/ 1124712 w 1728216"/>
              <a:gd name="connsiteY8" fmla="*/ 210312 h 576072"/>
              <a:gd name="connsiteX9" fmla="*/ 1307592 w 1728216"/>
              <a:gd name="connsiteY9" fmla="*/ 91440 h 576072"/>
              <a:gd name="connsiteX10" fmla="*/ 1728216 w 1728216"/>
              <a:gd name="connsiteY10" fmla="*/ 576072 h 576072"/>
              <a:gd name="connsiteX11" fmla="*/ 0 w 1728216"/>
              <a:gd name="connsiteY11" fmla="*/ 521208 h 57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28216" h="576072">
                <a:moveTo>
                  <a:pt x="0" y="521208"/>
                </a:moveTo>
                <a:lnTo>
                  <a:pt x="210312" y="265176"/>
                </a:lnTo>
                <a:lnTo>
                  <a:pt x="292608" y="283464"/>
                </a:lnTo>
                <a:lnTo>
                  <a:pt x="384048" y="118872"/>
                </a:lnTo>
                <a:lnTo>
                  <a:pt x="457200" y="192024"/>
                </a:lnTo>
                <a:lnTo>
                  <a:pt x="804672" y="0"/>
                </a:lnTo>
                <a:lnTo>
                  <a:pt x="923544" y="36576"/>
                </a:lnTo>
                <a:lnTo>
                  <a:pt x="1069848" y="128016"/>
                </a:lnTo>
                <a:lnTo>
                  <a:pt x="1124712" y="210312"/>
                </a:lnTo>
                <a:lnTo>
                  <a:pt x="1307592" y="91440"/>
                </a:lnTo>
                <a:lnTo>
                  <a:pt x="1728216" y="576072"/>
                </a:lnTo>
                <a:lnTo>
                  <a:pt x="0" y="521208"/>
                </a:lnTo>
                <a:close/>
              </a:path>
            </a:pathLst>
          </a:custGeom>
          <a:solidFill>
            <a:srgbClr val="81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A78ACB-F781-EF4B-4F81-4A4A121E1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786" y="5668288"/>
            <a:ext cx="1689100" cy="5588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467C02E-8627-36CA-FB7D-EFB0E8087EBA}"/>
              </a:ext>
            </a:extLst>
          </p:cNvPr>
          <p:cNvSpPr/>
          <p:nvPr/>
        </p:nvSpPr>
        <p:spPr>
          <a:xfrm>
            <a:off x="-9145" y="6126677"/>
            <a:ext cx="12266899" cy="758756"/>
          </a:xfrm>
          <a:prstGeom prst="rect">
            <a:avLst/>
          </a:prstGeom>
          <a:solidFill>
            <a:srgbClr val="81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E89DC574-1B5D-B87C-C0B5-7535DD1F9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10" y="6227088"/>
            <a:ext cx="3626722" cy="584306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3C93ECD-84D3-610D-70DF-D897DF497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E555-4FC5-CD4D-8BC2-3698C6BF6755}" type="slidenum">
              <a:rPr lang="en-US" smtClean="0"/>
              <a:t>4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D089CC-7A91-D7CD-12FC-1A1382E86B9E}"/>
              </a:ext>
            </a:extLst>
          </p:cNvPr>
          <p:cNvSpPr txBox="1"/>
          <p:nvPr/>
        </p:nvSpPr>
        <p:spPr>
          <a:xfrm>
            <a:off x="0" y="115932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spc="-150" dirty="0">
                <a:solidFill>
                  <a:srgbClr val="472365"/>
                </a:solidFill>
                <a:latin typeface="Trade Gothic LT Std Bold" panose="020B0503020502020204" pitchFamily="34" charset="77"/>
              </a:rPr>
              <a:t>Microarchitectural Mechanism</a:t>
            </a:r>
            <a:endParaRPr lang="en-US" sz="4000" b="1" spc="-150" dirty="0">
              <a:solidFill>
                <a:srgbClr val="472365"/>
              </a:solidFill>
              <a:latin typeface="Trade Gothic LT Std Bold" panose="020B0503020502020204" pitchFamily="34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4031F-12D2-0447-DD13-CC81F4944319}"/>
              </a:ext>
            </a:extLst>
          </p:cNvPr>
          <p:cNvSpPr txBox="1"/>
          <p:nvPr/>
        </p:nvSpPr>
        <p:spPr>
          <a:xfrm>
            <a:off x="593399" y="1737860"/>
            <a:ext cx="1159860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72365"/>
                </a:solidFill>
              </a:rPr>
              <a:t>A microarchitectural mechanism is an internal hardware technique used by a processor to execute instructions more efficiently while preserving the behavior defined by the instruction set architecture.</a:t>
            </a:r>
          </a:p>
        </p:txBody>
      </p:sp>
    </p:spTree>
    <p:extLst>
      <p:ext uri="{BB962C8B-B14F-4D97-AF65-F5344CB8AC3E}">
        <p14:creationId xmlns:p14="http://schemas.microsoft.com/office/powerpoint/2010/main" val="3599572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01B4C-CE82-5005-4219-83F5A6D7B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537D3B-357A-C0F4-1AFB-27B64EC058F4}"/>
              </a:ext>
            </a:extLst>
          </p:cNvPr>
          <p:cNvCxnSpPr>
            <a:cxnSpLocks/>
          </p:cNvCxnSpPr>
          <p:nvPr/>
        </p:nvCxnSpPr>
        <p:spPr>
          <a:xfrm>
            <a:off x="-74899" y="1313298"/>
            <a:ext cx="12365222" cy="0"/>
          </a:xfrm>
          <a:prstGeom prst="line">
            <a:avLst/>
          </a:prstGeom>
          <a:ln w="57150">
            <a:solidFill>
              <a:srgbClr val="4723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reeform 11">
            <a:extLst>
              <a:ext uri="{FF2B5EF4-FFF2-40B4-BE49-F238E27FC236}">
                <a16:creationId xmlns:a16="http://schemas.microsoft.com/office/drawing/2014/main" id="{43B46D3C-5463-9617-7E0F-F173145FA3A8}"/>
              </a:ext>
            </a:extLst>
          </p:cNvPr>
          <p:cNvSpPr/>
          <p:nvPr/>
        </p:nvSpPr>
        <p:spPr>
          <a:xfrm>
            <a:off x="-31821" y="5702116"/>
            <a:ext cx="1728216" cy="576072"/>
          </a:xfrm>
          <a:custGeom>
            <a:avLst/>
            <a:gdLst>
              <a:gd name="connsiteX0" fmla="*/ 0 w 1728216"/>
              <a:gd name="connsiteY0" fmla="*/ 521208 h 576072"/>
              <a:gd name="connsiteX1" fmla="*/ 210312 w 1728216"/>
              <a:gd name="connsiteY1" fmla="*/ 265176 h 576072"/>
              <a:gd name="connsiteX2" fmla="*/ 292608 w 1728216"/>
              <a:gd name="connsiteY2" fmla="*/ 283464 h 576072"/>
              <a:gd name="connsiteX3" fmla="*/ 384048 w 1728216"/>
              <a:gd name="connsiteY3" fmla="*/ 118872 h 576072"/>
              <a:gd name="connsiteX4" fmla="*/ 457200 w 1728216"/>
              <a:gd name="connsiteY4" fmla="*/ 192024 h 576072"/>
              <a:gd name="connsiteX5" fmla="*/ 804672 w 1728216"/>
              <a:gd name="connsiteY5" fmla="*/ 0 h 576072"/>
              <a:gd name="connsiteX6" fmla="*/ 923544 w 1728216"/>
              <a:gd name="connsiteY6" fmla="*/ 36576 h 576072"/>
              <a:gd name="connsiteX7" fmla="*/ 1069848 w 1728216"/>
              <a:gd name="connsiteY7" fmla="*/ 128016 h 576072"/>
              <a:gd name="connsiteX8" fmla="*/ 1124712 w 1728216"/>
              <a:gd name="connsiteY8" fmla="*/ 210312 h 576072"/>
              <a:gd name="connsiteX9" fmla="*/ 1307592 w 1728216"/>
              <a:gd name="connsiteY9" fmla="*/ 91440 h 576072"/>
              <a:gd name="connsiteX10" fmla="*/ 1728216 w 1728216"/>
              <a:gd name="connsiteY10" fmla="*/ 576072 h 576072"/>
              <a:gd name="connsiteX11" fmla="*/ 0 w 1728216"/>
              <a:gd name="connsiteY11" fmla="*/ 521208 h 57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28216" h="576072">
                <a:moveTo>
                  <a:pt x="0" y="521208"/>
                </a:moveTo>
                <a:lnTo>
                  <a:pt x="210312" y="265176"/>
                </a:lnTo>
                <a:lnTo>
                  <a:pt x="292608" y="283464"/>
                </a:lnTo>
                <a:lnTo>
                  <a:pt x="384048" y="118872"/>
                </a:lnTo>
                <a:lnTo>
                  <a:pt x="457200" y="192024"/>
                </a:lnTo>
                <a:lnTo>
                  <a:pt x="804672" y="0"/>
                </a:lnTo>
                <a:lnTo>
                  <a:pt x="923544" y="36576"/>
                </a:lnTo>
                <a:lnTo>
                  <a:pt x="1069848" y="128016"/>
                </a:lnTo>
                <a:lnTo>
                  <a:pt x="1124712" y="210312"/>
                </a:lnTo>
                <a:lnTo>
                  <a:pt x="1307592" y="91440"/>
                </a:lnTo>
                <a:lnTo>
                  <a:pt x="1728216" y="576072"/>
                </a:lnTo>
                <a:lnTo>
                  <a:pt x="0" y="521208"/>
                </a:lnTo>
                <a:close/>
              </a:path>
            </a:pathLst>
          </a:custGeom>
          <a:solidFill>
            <a:srgbClr val="81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B737AA-F74F-18EC-D50D-927E59F96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786" y="5668288"/>
            <a:ext cx="1689100" cy="5588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653B4E6-9806-161B-2974-17708826A18B}"/>
              </a:ext>
            </a:extLst>
          </p:cNvPr>
          <p:cNvSpPr/>
          <p:nvPr/>
        </p:nvSpPr>
        <p:spPr>
          <a:xfrm>
            <a:off x="-9145" y="6126677"/>
            <a:ext cx="12266899" cy="758756"/>
          </a:xfrm>
          <a:prstGeom prst="rect">
            <a:avLst/>
          </a:prstGeom>
          <a:solidFill>
            <a:srgbClr val="81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A5547443-308A-5BE0-34E3-C172C6FC7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10" y="6227088"/>
            <a:ext cx="3626722" cy="584306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0C26CE5-2DFA-D8CB-6320-584B99D89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E555-4FC5-CD4D-8BC2-3698C6BF6755}" type="slidenum">
              <a:rPr lang="en-US" smtClean="0"/>
              <a:t>5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E6EFFF-0C44-9DE0-2E82-3F1F4A94EA7A}"/>
              </a:ext>
            </a:extLst>
          </p:cNvPr>
          <p:cNvSpPr txBox="1"/>
          <p:nvPr/>
        </p:nvSpPr>
        <p:spPr>
          <a:xfrm>
            <a:off x="0" y="115932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spc="-150" dirty="0">
                <a:solidFill>
                  <a:srgbClr val="472365"/>
                </a:solidFill>
                <a:latin typeface="Trade Gothic LT Std Bold" panose="020B0503020502020204" pitchFamily="34" charset="77"/>
              </a:rPr>
              <a:t>Current Solutions</a:t>
            </a:r>
            <a:endParaRPr lang="en-US" sz="4000" b="1" spc="-150" dirty="0">
              <a:solidFill>
                <a:srgbClr val="472365"/>
              </a:solidFill>
              <a:latin typeface="Trade Gothic LT Std Bold" panose="020B0503020502020204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7D7331-ACE2-426F-DAFC-659197957F44}"/>
              </a:ext>
            </a:extLst>
          </p:cNvPr>
          <p:cNvSpPr txBox="1"/>
          <p:nvPr/>
        </p:nvSpPr>
        <p:spPr>
          <a:xfrm>
            <a:off x="175710" y="1525712"/>
            <a:ext cx="598531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472365"/>
                </a:solidFill>
                <a:latin typeface="Trade Gothic LT Std" panose="020B0503020502020204" pitchFamily="34" charset="77"/>
              </a:rPr>
              <a:t>Load Value Prediction (LVP)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Predicts the value a load will return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Allows dependent instructions to execute early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Load still executes to verify prediction</a:t>
            </a:r>
          </a:p>
          <a:p>
            <a:r>
              <a:rPr lang="en-US" sz="28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Limitation: Does not eliminate memory access or pipeline resource usage.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65EB0B-547F-C3A9-1DDB-43CDC3883F61}"/>
              </a:ext>
            </a:extLst>
          </p:cNvPr>
          <p:cNvSpPr txBox="1"/>
          <p:nvPr/>
        </p:nvSpPr>
        <p:spPr>
          <a:xfrm>
            <a:off x="6305008" y="1539374"/>
            <a:ext cx="598531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472365"/>
                </a:solidFill>
                <a:latin typeface="Trade Gothic LT Std" panose="020B0503020502020204" pitchFamily="34" charset="77"/>
              </a:rPr>
              <a:t>Memory Renaming (MRN)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Tracks relationships between stores and later loads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Allows loads to obtain values directly from earlier stores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Reduces memory access latency</a:t>
            </a:r>
          </a:p>
          <a:p>
            <a:r>
              <a:rPr lang="en-US" sz="28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Limitation: Only works when a load reads a value from a recent store.</a:t>
            </a:r>
          </a:p>
        </p:txBody>
      </p:sp>
    </p:spTree>
    <p:extLst>
      <p:ext uri="{BB962C8B-B14F-4D97-AF65-F5344CB8AC3E}">
        <p14:creationId xmlns:p14="http://schemas.microsoft.com/office/powerpoint/2010/main" val="3164463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B270C-CC8F-2F6B-815E-9A28D4121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C37F727-0233-FB8C-BE05-41CC97ABBA4F}"/>
              </a:ext>
            </a:extLst>
          </p:cNvPr>
          <p:cNvCxnSpPr>
            <a:cxnSpLocks/>
          </p:cNvCxnSpPr>
          <p:nvPr/>
        </p:nvCxnSpPr>
        <p:spPr>
          <a:xfrm>
            <a:off x="-74899" y="1313298"/>
            <a:ext cx="12365222" cy="0"/>
          </a:xfrm>
          <a:prstGeom prst="line">
            <a:avLst/>
          </a:prstGeom>
          <a:ln w="57150">
            <a:solidFill>
              <a:srgbClr val="4723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reeform 11">
            <a:extLst>
              <a:ext uri="{FF2B5EF4-FFF2-40B4-BE49-F238E27FC236}">
                <a16:creationId xmlns:a16="http://schemas.microsoft.com/office/drawing/2014/main" id="{E512A6AB-09F6-A112-0739-8D24797DB0E2}"/>
              </a:ext>
            </a:extLst>
          </p:cNvPr>
          <p:cNvSpPr/>
          <p:nvPr/>
        </p:nvSpPr>
        <p:spPr>
          <a:xfrm>
            <a:off x="-31821" y="5702116"/>
            <a:ext cx="1728216" cy="576072"/>
          </a:xfrm>
          <a:custGeom>
            <a:avLst/>
            <a:gdLst>
              <a:gd name="connsiteX0" fmla="*/ 0 w 1728216"/>
              <a:gd name="connsiteY0" fmla="*/ 521208 h 576072"/>
              <a:gd name="connsiteX1" fmla="*/ 210312 w 1728216"/>
              <a:gd name="connsiteY1" fmla="*/ 265176 h 576072"/>
              <a:gd name="connsiteX2" fmla="*/ 292608 w 1728216"/>
              <a:gd name="connsiteY2" fmla="*/ 283464 h 576072"/>
              <a:gd name="connsiteX3" fmla="*/ 384048 w 1728216"/>
              <a:gd name="connsiteY3" fmla="*/ 118872 h 576072"/>
              <a:gd name="connsiteX4" fmla="*/ 457200 w 1728216"/>
              <a:gd name="connsiteY4" fmla="*/ 192024 h 576072"/>
              <a:gd name="connsiteX5" fmla="*/ 804672 w 1728216"/>
              <a:gd name="connsiteY5" fmla="*/ 0 h 576072"/>
              <a:gd name="connsiteX6" fmla="*/ 923544 w 1728216"/>
              <a:gd name="connsiteY6" fmla="*/ 36576 h 576072"/>
              <a:gd name="connsiteX7" fmla="*/ 1069848 w 1728216"/>
              <a:gd name="connsiteY7" fmla="*/ 128016 h 576072"/>
              <a:gd name="connsiteX8" fmla="*/ 1124712 w 1728216"/>
              <a:gd name="connsiteY8" fmla="*/ 210312 h 576072"/>
              <a:gd name="connsiteX9" fmla="*/ 1307592 w 1728216"/>
              <a:gd name="connsiteY9" fmla="*/ 91440 h 576072"/>
              <a:gd name="connsiteX10" fmla="*/ 1728216 w 1728216"/>
              <a:gd name="connsiteY10" fmla="*/ 576072 h 576072"/>
              <a:gd name="connsiteX11" fmla="*/ 0 w 1728216"/>
              <a:gd name="connsiteY11" fmla="*/ 521208 h 57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28216" h="576072">
                <a:moveTo>
                  <a:pt x="0" y="521208"/>
                </a:moveTo>
                <a:lnTo>
                  <a:pt x="210312" y="265176"/>
                </a:lnTo>
                <a:lnTo>
                  <a:pt x="292608" y="283464"/>
                </a:lnTo>
                <a:lnTo>
                  <a:pt x="384048" y="118872"/>
                </a:lnTo>
                <a:lnTo>
                  <a:pt x="457200" y="192024"/>
                </a:lnTo>
                <a:lnTo>
                  <a:pt x="804672" y="0"/>
                </a:lnTo>
                <a:lnTo>
                  <a:pt x="923544" y="36576"/>
                </a:lnTo>
                <a:lnTo>
                  <a:pt x="1069848" y="128016"/>
                </a:lnTo>
                <a:lnTo>
                  <a:pt x="1124712" y="210312"/>
                </a:lnTo>
                <a:lnTo>
                  <a:pt x="1307592" y="91440"/>
                </a:lnTo>
                <a:lnTo>
                  <a:pt x="1728216" y="576072"/>
                </a:lnTo>
                <a:lnTo>
                  <a:pt x="0" y="521208"/>
                </a:lnTo>
                <a:close/>
              </a:path>
            </a:pathLst>
          </a:custGeom>
          <a:solidFill>
            <a:srgbClr val="81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2E22B4-5DE6-A749-B0E3-61CD857ED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786" y="5668288"/>
            <a:ext cx="1689100" cy="5588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AFCE5BA-14FD-81E9-AE19-BBB7A135B92B}"/>
              </a:ext>
            </a:extLst>
          </p:cNvPr>
          <p:cNvSpPr/>
          <p:nvPr/>
        </p:nvSpPr>
        <p:spPr>
          <a:xfrm>
            <a:off x="-9145" y="6126677"/>
            <a:ext cx="12266899" cy="758756"/>
          </a:xfrm>
          <a:prstGeom prst="rect">
            <a:avLst/>
          </a:prstGeom>
          <a:solidFill>
            <a:srgbClr val="81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EB9F31B5-9DC0-7483-7AE8-11BFD8A21C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10" y="6227088"/>
            <a:ext cx="3626722" cy="584306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6CB0D92-A37C-A953-10E2-FAEC03E06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E555-4FC5-CD4D-8BC2-3698C6BF6755}" type="slidenum">
              <a:rPr lang="en-US" smtClean="0"/>
              <a:t>6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2DA650-418A-295E-2499-45FB764BCA5E}"/>
              </a:ext>
            </a:extLst>
          </p:cNvPr>
          <p:cNvSpPr txBox="1"/>
          <p:nvPr/>
        </p:nvSpPr>
        <p:spPr>
          <a:xfrm>
            <a:off x="0" y="115932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spc="-150" dirty="0">
                <a:solidFill>
                  <a:srgbClr val="472365"/>
                </a:solidFill>
                <a:latin typeface="Trade Gothic LT Std Bold" panose="020B0503020502020204" pitchFamily="34" charset="77"/>
              </a:rPr>
              <a:t>Big Idea of Constable</a:t>
            </a:r>
            <a:endParaRPr lang="en-US" sz="4000" b="1" spc="-150" dirty="0">
              <a:solidFill>
                <a:srgbClr val="472365"/>
              </a:solidFill>
              <a:latin typeface="Trade Gothic LT Std Bold" panose="020B0503020502020204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DE2B1B-6BBB-00B7-FCB8-1DF6B5500AA8}"/>
              </a:ext>
            </a:extLst>
          </p:cNvPr>
          <p:cNvSpPr txBox="1"/>
          <p:nvPr/>
        </p:nvSpPr>
        <p:spPr>
          <a:xfrm>
            <a:off x="625773" y="1556156"/>
            <a:ext cx="950502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72365"/>
                </a:solidFill>
                <a:latin typeface="Trade Gothic LT Std" panose="020B0503020502020204" pitchFamily="34" charset="77"/>
              </a:rPr>
              <a:t>A microarchitectural mechanism that: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Detects stable loads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Safely replaces their execution</a:t>
            </a:r>
          </a:p>
          <a:p>
            <a:r>
              <a:rPr lang="en-US" sz="3200" b="1" dirty="0">
                <a:solidFill>
                  <a:srgbClr val="472365"/>
                </a:solidFill>
                <a:latin typeface="Trade Gothic LT Std" panose="020B0503020502020204" pitchFamily="34" charset="77"/>
              </a:rPr>
              <a:t>Benefits</a:t>
            </a:r>
            <a:endParaRPr lang="en-US" sz="3600" b="1" dirty="0">
              <a:solidFill>
                <a:srgbClr val="472365"/>
              </a:solidFill>
              <a:latin typeface="Trade Gothic LT Std" panose="020B0503020502020204" pitchFamily="34" charset="7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Fewer memory accesses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Reduced pipeline pressure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Lower power consumption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5FD66C-D348-3755-C116-A228A2920B88}"/>
              </a:ext>
            </a:extLst>
          </p:cNvPr>
          <p:cNvSpPr txBox="1"/>
          <p:nvPr/>
        </p:nvSpPr>
        <p:spPr>
          <a:xfrm>
            <a:off x="8114925" y="4087977"/>
            <a:ext cx="3451302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MOV R1 ← cached_value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97F3E2-0365-A6F5-512A-F549F7AB6B15}"/>
              </a:ext>
            </a:extLst>
          </p:cNvPr>
          <p:cNvSpPr txBox="1"/>
          <p:nvPr/>
        </p:nvSpPr>
        <p:spPr>
          <a:xfrm>
            <a:off x="8114925" y="2228671"/>
            <a:ext cx="3267307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LOAD R1 ← MEM[A] → 5</a:t>
            </a:r>
          </a:p>
          <a:p>
            <a:r>
              <a:rPr lang="pt-BR" sz="2400" dirty="0">
                <a:solidFill>
                  <a:schemeClr val="bg1"/>
                </a:solidFill>
              </a:rPr>
              <a:t>LOAD R1 ← MEM[A] → 5</a:t>
            </a:r>
          </a:p>
          <a:p>
            <a:r>
              <a:rPr lang="pt-BR" sz="2400" dirty="0">
                <a:solidFill>
                  <a:schemeClr val="bg1"/>
                </a:solidFill>
              </a:rPr>
              <a:t>LOAD R1 ← MEM[A] → 5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531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CA76D-16C4-7882-4BBC-119ECC1EF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EDE67E-0B45-8475-12F6-B2F64EAFE3FE}"/>
              </a:ext>
            </a:extLst>
          </p:cNvPr>
          <p:cNvCxnSpPr>
            <a:cxnSpLocks/>
          </p:cNvCxnSpPr>
          <p:nvPr/>
        </p:nvCxnSpPr>
        <p:spPr>
          <a:xfrm>
            <a:off x="-74899" y="1313298"/>
            <a:ext cx="12365222" cy="0"/>
          </a:xfrm>
          <a:prstGeom prst="line">
            <a:avLst/>
          </a:prstGeom>
          <a:ln w="57150">
            <a:solidFill>
              <a:srgbClr val="4723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reeform 11">
            <a:extLst>
              <a:ext uri="{FF2B5EF4-FFF2-40B4-BE49-F238E27FC236}">
                <a16:creationId xmlns:a16="http://schemas.microsoft.com/office/drawing/2014/main" id="{C141EE17-05D4-99DC-AEF7-643D9D1390E2}"/>
              </a:ext>
            </a:extLst>
          </p:cNvPr>
          <p:cNvSpPr/>
          <p:nvPr/>
        </p:nvSpPr>
        <p:spPr>
          <a:xfrm>
            <a:off x="-31821" y="5702116"/>
            <a:ext cx="1728216" cy="576072"/>
          </a:xfrm>
          <a:custGeom>
            <a:avLst/>
            <a:gdLst>
              <a:gd name="connsiteX0" fmla="*/ 0 w 1728216"/>
              <a:gd name="connsiteY0" fmla="*/ 521208 h 576072"/>
              <a:gd name="connsiteX1" fmla="*/ 210312 w 1728216"/>
              <a:gd name="connsiteY1" fmla="*/ 265176 h 576072"/>
              <a:gd name="connsiteX2" fmla="*/ 292608 w 1728216"/>
              <a:gd name="connsiteY2" fmla="*/ 283464 h 576072"/>
              <a:gd name="connsiteX3" fmla="*/ 384048 w 1728216"/>
              <a:gd name="connsiteY3" fmla="*/ 118872 h 576072"/>
              <a:gd name="connsiteX4" fmla="*/ 457200 w 1728216"/>
              <a:gd name="connsiteY4" fmla="*/ 192024 h 576072"/>
              <a:gd name="connsiteX5" fmla="*/ 804672 w 1728216"/>
              <a:gd name="connsiteY5" fmla="*/ 0 h 576072"/>
              <a:gd name="connsiteX6" fmla="*/ 923544 w 1728216"/>
              <a:gd name="connsiteY6" fmla="*/ 36576 h 576072"/>
              <a:gd name="connsiteX7" fmla="*/ 1069848 w 1728216"/>
              <a:gd name="connsiteY7" fmla="*/ 128016 h 576072"/>
              <a:gd name="connsiteX8" fmla="*/ 1124712 w 1728216"/>
              <a:gd name="connsiteY8" fmla="*/ 210312 h 576072"/>
              <a:gd name="connsiteX9" fmla="*/ 1307592 w 1728216"/>
              <a:gd name="connsiteY9" fmla="*/ 91440 h 576072"/>
              <a:gd name="connsiteX10" fmla="*/ 1728216 w 1728216"/>
              <a:gd name="connsiteY10" fmla="*/ 576072 h 576072"/>
              <a:gd name="connsiteX11" fmla="*/ 0 w 1728216"/>
              <a:gd name="connsiteY11" fmla="*/ 521208 h 57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28216" h="576072">
                <a:moveTo>
                  <a:pt x="0" y="521208"/>
                </a:moveTo>
                <a:lnTo>
                  <a:pt x="210312" y="265176"/>
                </a:lnTo>
                <a:lnTo>
                  <a:pt x="292608" y="283464"/>
                </a:lnTo>
                <a:lnTo>
                  <a:pt x="384048" y="118872"/>
                </a:lnTo>
                <a:lnTo>
                  <a:pt x="457200" y="192024"/>
                </a:lnTo>
                <a:lnTo>
                  <a:pt x="804672" y="0"/>
                </a:lnTo>
                <a:lnTo>
                  <a:pt x="923544" y="36576"/>
                </a:lnTo>
                <a:lnTo>
                  <a:pt x="1069848" y="128016"/>
                </a:lnTo>
                <a:lnTo>
                  <a:pt x="1124712" y="210312"/>
                </a:lnTo>
                <a:lnTo>
                  <a:pt x="1307592" y="91440"/>
                </a:lnTo>
                <a:lnTo>
                  <a:pt x="1728216" y="576072"/>
                </a:lnTo>
                <a:lnTo>
                  <a:pt x="0" y="521208"/>
                </a:lnTo>
                <a:close/>
              </a:path>
            </a:pathLst>
          </a:custGeom>
          <a:solidFill>
            <a:srgbClr val="81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16757E-7BD4-64E6-5539-194D8AD79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786" y="5668288"/>
            <a:ext cx="1689100" cy="5588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1ECA65-5777-EE90-9657-9820501FF0EF}"/>
              </a:ext>
            </a:extLst>
          </p:cNvPr>
          <p:cNvSpPr/>
          <p:nvPr/>
        </p:nvSpPr>
        <p:spPr>
          <a:xfrm>
            <a:off x="-9145" y="6126677"/>
            <a:ext cx="12266899" cy="758756"/>
          </a:xfrm>
          <a:prstGeom prst="rect">
            <a:avLst/>
          </a:prstGeom>
          <a:solidFill>
            <a:srgbClr val="81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78D9B062-65F4-69A4-AD03-A768D6F993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10" y="6227088"/>
            <a:ext cx="3626722" cy="584306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1D59363-C25E-2401-9BB9-9C40619BC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E555-4FC5-CD4D-8BC2-3698C6BF6755}" type="slidenum">
              <a:rPr lang="en-US" smtClean="0"/>
              <a:t>7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E21DAA-F15F-04A4-CE18-37E92C67F26E}"/>
              </a:ext>
            </a:extLst>
          </p:cNvPr>
          <p:cNvSpPr txBox="1"/>
          <p:nvPr/>
        </p:nvSpPr>
        <p:spPr>
          <a:xfrm>
            <a:off x="0" y="115932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spc="-150" dirty="0">
                <a:solidFill>
                  <a:srgbClr val="472365"/>
                </a:solidFill>
                <a:latin typeface="Trade Gothic LT Std Bold" panose="020B0503020502020204" pitchFamily="34" charset="77"/>
              </a:rPr>
              <a:t>Architecture</a:t>
            </a:r>
            <a:endParaRPr lang="en-US" sz="4000" b="1" spc="-150" dirty="0">
              <a:solidFill>
                <a:srgbClr val="472365"/>
              </a:solidFill>
              <a:latin typeface="Trade Gothic LT Std Bold" panose="020B0503020502020204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DF7111-3BA8-6D4F-F2E8-3EE65B09EDE2}"/>
              </a:ext>
            </a:extLst>
          </p:cNvPr>
          <p:cNvSpPr txBox="1"/>
          <p:nvPr/>
        </p:nvSpPr>
        <p:spPr>
          <a:xfrm>
            <a:off x="1679349" y="1495002"/>
            <a:ext cx="856850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72365"/>
                </a:solidFill>
                <a:latin typeface="Trade Gothic LT Std" panose="020B0503020502020204" pitchFamily="34" charset="77"/>
              </a:rPr>
              <a:t>Main Components: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Stable Load Detector (SLD)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Register Monitor Table (RMT)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Address Monitor Table (AMT)</a:t>
            </a:r>
          </a:p>
          <a:p>
            <a:r>
              <a:rPr lang="en-US" sz="3200" b="1" dirty="0">
                <a:solidFill>
                  <a:srgbClr val="472365"/>
                </a:solidFill>
                <a:latin typeface="Trade Gothic LT Std" panose="020B0503020502020204" pitchFamily="34" charset="77"/>
              </a:rPr>
              <a:t>Process: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Detect stable load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Monitor dependencies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Replace load with cached value</a:t>
            </a:r>
          </a:p>
          <a:p>
            <a:endParaRPr lang="en-US" sz="3200" dirty="0">
              <a:solidFill>
                <a:srgbClr val="472365"/>
              </a:solidFill>
              <a:latin typeface="Trade Gothic LT Std" panose="020B05030205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03534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55D96-5F38-978D-83F5-AB8617548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51FAC0A-0465-EE3A-A3AA-B86884E83253}"/>
              </a:ext>
            </a:extLst>
          </p:cNvPr>
          <p:cNvCxnSpPr>
            <a:cxnSpLocks/>
          </p:cNvCxnSpPr>
          <p:nvPr/>
        </p:nvCxnSpPr>
        <p:spPr>
          <a:xfrm>
            <a:off x="-74899" y="1313298"/>
            <a:ext cx="12365222" cy="0"/>
          </a:xfrm>
          <a:prstGeom prst="line">
            <a:avLst/>
          </a:prstGeom>
          <a:ln w="57150">
            <a:solidFill>
              <a:srgbClr val="4723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reeform 11">
            <a:extLst>
              <a:ext uri="{FF2B5EF4-FFF2-40B4-BE49-F238E27FC236}">
                <a16:creationId xmlns:a16="http://schemas.microsoft.com/office/drawing/2014/main" id="{CF216B3D-D43D-43F9-AF57-E610BF0F37FE}"/>
              </a:ext>
            </a:extLst>
          </p:cNvPr>
          <p:cNvSpPr/>
          <p:nvPr/>
        </p:nvSpPr>
        <p:spPr>
          <a:xfrm>
            <a:off x="-31821" y="5702116"/>
            <a:ext cx="1728216" cy="576072"/>
          </a:xfrm>
          <a:custGeom>
            <a:avLst/>
            <a:gdLst>
              <a:gd name="connsiteX0" fmla="*/ 0 w 1728216"/>
              <a:gd name="connsiteY0" fmla="*/ 521208 h 576072"/>
              <a:gd name="connsiteX1" fmla="*/ 210312 w 1728216"/>
              <a:gd name="connsiteY1" fmla="*/ 265176 h 576072"/>
              <a:gd name="connsiteX2" fmla="*/ 292608 w 1728216"/>
              <a:gd name="connsiteY2" fmla="*/ 283464 h 576072"/>
              <a:gd name="connsiteX3" fmla="*/ 384048 w 1728216"/>
              <a:gd name="connsiteY3" fmla="*/ 118872 h 576072"/>
              <a:gd name="connsiteX4" fmla="*/ 457200 w 1728216"/>
              <a:gd name="connsiteY4" fmla="*/ 192024 h 576072"/>
              <a:gd name="connsiteX5" fmla="*/ 804672 w 1728216"/>
              <a:gd name="connsiteY5" fmla="*/ 0 h 576072"/>
              <a:gd name="connsiteX6" fmla="*/ 923544 w 1728216"/>
              <a:gd name="connsiteY6" fmla="*/ 36576 h 576072"/>
              <a:gd name="connsiteX7" fmla="*/ 1069848 w 1728216"/>
              <a:gd name="connsiteY7" fmla="*/ 128016 h 576072"/>
              <a:gd name="connsiteX8" fmla="*/ 1124712 w 1728216"/>
              <a:gd name="connsiteY8" fmla="*/ 210312 h 576072"/>
              <a:gd name="connsiteX9" fmla="*/ 1307592 w 1728216"/>
              <a:gd name="connsiteY9" fmla="*/ 91440 h 576072"/>
              <a:gd name="connsiteX10" fmla="*/ 1728216 w 1728216"/>
              <a:gd name="connsiteY10" fmla="*/ 576072 h 576072"/>
              <a:gd name="connsiteX11" fmla="*/ 0 w 1728216"/>
              <a:gd name="connsiteY11" fmla="*/ 521208 h 57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28216" h="576072">
                <a:moveTo>
                  <a:pt x="0" y="521208"/>
                </a:moveTo>
                <a:lnTo>
                  <a:pt x="210312" y="265176"/>
                </a:lnTo>
                <a:lnTo>
                  <a:pt x="292608" y="283464"/>
                </a:lnTo>
                <a:lnTo>
                  <a:pt x="384048" y="118872"/>
                </a:lnTo>
                <a:lnTo>
                  <a:pt x="457200" y="192024"/>
                </a:lnTo>
                <a:lnTo>
                  <a:pt x="804672" y="0"/>
                </a:lnTo>
                <a:lnTo>
                  <a:pt x="923544" y="36576"/>
                </a:lnTo>
                <a:lnTo>
                  <a:pt x="1069848" y="128016"/>
                </a:lnTo>
                <a:lnTo>
                  <a:pt x="1124712" y="210312"/>
                </a:lnTo>
                <a:lnTo>
                  <a:pt x="1307592" y="91440"/>
                </a:lnTo>
                <a:lnTo>
                  <a:pt x="1728216" y="576072"/>
                </a:lnTo>
                <a:lnTo>
                  <a:pt x="0" y="521208"/>
                </a:lnTo>
                <a:close/>
              </a:path>
            </a:pathLst>
          </a:custGeom>
          <a:solidFill>
            <a:srgbClr val="81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B8A4C7-D851-687B-79F7-6AB596510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786" y="5668288"/>
            <a:ext cx="1689100" cy="5588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08519F8-8E04-065D-E66A-128F72E5F90C}"/>
              </a:ext>
            </a:extLst>
          </p:cNvPr>
          <p:cNvSpPr/>
          <p:nvPr/>
        </p:nvSpPr>
        <p:spPr>
          <a:xfrm>
            <a:off x="-9145" y="6126677"/>
            <a:ext cx="12266899" cy="758756"/>
          </a:xfrm>
          <a:prstGeom prst="rect">
            <a:avLst/>
          </a:prstGeom>
          <a:solidFill>
            <a:srgbClr val="81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81F23818-B781-F463-F502-55C26A013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10" y="6227088"/>
            <a:ext cx="3626722" cy="584306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5849B2D-1C9B-3B09-B043-39536CC43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E555-4FC5-CD4D-8BC2-3698C6BF6755}" type="slidenum">
              <a:rPr lang="en-US" smtClean="0"/>
              <a:t>8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C6E7C1-05AA-C168-4672-CE003C5B751F}"/>
              </a:ext>
            </a:extLst>
          </p:cNvPr>
          <p:cNvSpPr txBox="1"/>
          <p:nvPr/>
        </p:nvSpPr>
        <p:spPr>
          <a:xfrm>
            <a:off x="0" y="115932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spc="-150" dirty="0">
                <a:solidFill>
                  <a:srgbClr val="472365"/>
                </a:solidFill>
                <a:latin typeface="Trade Gothic LT Std Bold" panose="020B0503020502020204" pitchFamily="34" charset="77"/>
              </a:rPr>
              <a:t>Stable Load Detector (SLD)</a:t>
            </a:r>
            <a:endParaRPr lang="en-US" sz="4000" b="1" spc="-150" dirty="0">
              <a:solidFill>
                <a:srgbClr val="472365"/>
              </a:solidFill>
              <a:latin typeface="Trade Gothic LT Std Bold" panose="020B0503020502020204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83DE98-35F6-DF59-F1E0-924250E65865}"/>
              </a:ext>
            </a:extLst>
          </p:cNvPr>
          <p:cNvSpPr txBox="1"/>
          <p:nvPr/>
        </p:nvSpPr>
        <p:spPr>
          <a:xfrm>
            <a:off x="1668314" y="1522347"/>
            <a:ext cx="950502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72365"/>
                </a:solidFill>
                <a:latin typeface="Trade Gothic LT Std" panose="020B0503020502020204" pitchFamily="34" charset="77"/>
              </a:rPr>
              <a:t>Constable identifies loads that: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Access the same memory address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Return the same value repeatedly</a:t>
            </a:r>
          </a:p>
          <a:p>
            <a:r>
              <a:rPr lang="en-US" sz="3200" b="1" dirty="0">
                <a:solidFill>
                  <a:srgbClr val="472365"/>
                </a:solidFill>
                <a:latin typeface="Trade Gothic LT Std" panose="020B0503020502020204" pitchFamily="34" charset="77"/>
              </a:rPr>
              <a:t>SLD Purpose: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Identify likely-stable loads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Decision of eliminating a load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Store load instruction address and fetched data</a:t>
            </a:r>
          </a:p>
          <a:p>
            <a:r>
              <a:rPr lang="en-US" sz="3200" b="1" dirty="0">
                <a:solidFill>
                  <a:srgbClr val="472365"/>
                </a:solidFill>
                <a:latin typeface="Trade Gothic LT Std" panose="020B0503020502020204" pitchFamily="34" charset="77"/>
              </a:rPr>
              <a:t>Once confidence is high → load becomes stable</a:t>
            </a:r>
          </a:p>
        </p:txBody>
      </p:sp>
    </p:spTree>
    <p:extLst>
      <p:ext uri="{BB962C8B-B14F-4D97-AF65-F5344CB8AC3E}">
        <p14:creationId xmlns:p14="http://schemas.microsoft.com/office/powerpoint/2010/main" val="1443660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0A6EE-702A-0CFB-CF56-3DC322D9C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87ACC94-BDF9-9D7F-37B7-0D4E836D8DA3}"/>
              </a:ext>
            </a:extLst>
          </p:cNvPr>
          <p:cNvCxnSpPr>
            <a:cxnSpLocks/>
          </p:cNvCxnSpPr>
          <p:nvPr/>
        </p:nvCxnSpPr>
        <p:spPr>
          <a:xfrm>
            <a:off x="-74899" y="1313298"/>
            <a:ext cx="12365222" cy="0"/>
          </a:xfrm>
          <a:prstGeom prst="line">
            <a:avLst/>
          </a:prstGeom>
          <a:ln w="57150">
            <a:solidFill>
              <a:srgbClr val="4723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reeform 11">
            <a:extLst>
              <a:ext uri="{FF2B5EF4-FFF2-40B4-BE49-F238E27FC236}">
                <a16:creationId xmlns:a16="http://schemas.microsoft.com/office/drawing/2014/main" id="{2FB26917-F7F2-88D2-DEFE-BDB1A49AD381}"/>
              </a:ext>
            </a:extLst>
          </p:cNvPr>
          <p:cNvSpPr/>
          <p:nvPr/>
        </p:nvSpPr>
        <p:spPr>
          <a:xfrm>
            <a:off x="-31821" y="5702116"/>
            <a:ext cx="1728216" cy="576072"/>
          </a:xfrm>
          <a:custGeom>
            <a:avLst/>
            <a:gdLst>
              <a:gd name="connsiteX0" fmla="*/ 0 w 1728216"/>
              <a:gd name="connsiteY0" fmla="*/ 521208 h 576072"/>
              <a:gd name="connsiteX1" fmla="*/ 210312 w 1728216"/>
              <a:gd name="connsiteY1" fmla="*/ 265176 h 576072"/>
              <a:gd name="connsiteX2" fmla="*/ 292608 w 1728216"/>
              <a:gd name="connsiteY2" fmla="*/ 283464 h 576072"/>
              <a:gd name="connsiteX3" fmla="*/ 384048 w 1728216"/>
              <a:gd name="connsiteY3" fmla="*/ 118872 h 576072"/>
              <a:gd name="connsiteX4" fmla="*/ 457200 w 1728216"/>
              <a:gd name="connsiteY4" fmla="*/ 192024 h 576072"/>
              <a:gd name="connsiteX5" fmla="*/ 804672 w 1728216"/>
              <a:gd name="connsiteY5" fmla="*/ 0 h 576072"/>
              <a:gd name="connsiteX6" fmla="*/ 923544 w 1728216"/>
              <a:gd name="connsiteY6" fmla="*/ 36576 h 576072"/>
              <a:gd name="connsiteX7" fmla="*/ 1069848 w 1728216"/>
              <a:gd name="connsiteY7" fmla="*/ 128016 h 576072"/>
              <a:gd name="connsiteX8" fmla="*/ 1124712 w 1728216"/>
              <a:gd name="connsiteY8" fmla="*/ 210312 h 576072"/>
              <a:gd name="connsiteX9" fmla="*/ 1307592 w 1728216"/>
              <a:gd name="connsiteY9" fmla="*/ 91440 h 576072"/>
              <a:gd name="connsiteX10" fmla="*/ 1728216 w 1728216"/>
              <a:gd name="connsiteY10" fmla="*/ 576072 h 576072"/>
              <a:gd name="connsiteX11" fmla="*/ 0 w 1728216"/>
              <a:gd name="connsiteY11" fmla="*/ 521208 h 57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28216" h="576072">
                <a:moveTo>
                  <a:pt x="0" y="521208"/>
                </a:moveTo>
                <a:lnTo>
                  <a:pt x="210312" y="265176"/>
                </a:lnTo>
                <a:lnTo>
                  <a:pt x="292608" y="283464"/>
                </a:lnTo>
                <a:lnTo>
                  <a:pt x="384048" y="118872"/>
                </a:lnTo>
                <a:lnTo>
                  <a:pt x="457200" y="192024"/>
                </a:lnTo>
                <a:lnTo>
                  <a:pt x="804672" y="0"/>
                </a:lnTo>
                <a:lnTo>
                  <a:pt x="923544" y="36576"/>
                </a:lnTo>
                <a:lnTo>
                  <a:pt x="1069848" y="128016"/>
                </a:lnTo>
                <a:lnTo>
                  <a:pt x="1124712" y="210312"/>
                </a:lnTo>
                <a:lnTo>
                  <a:pt x="1307592" y="91440"/>
                </a:lnTo>
                <a:lnTo>
                  <a:pt x="1728216" y="576072"/>
                </a:lnTo>
                <a:lnTo>
                  <a:pt x="0" y="521208"/>
                </a:lnTo>
                <a:close/>
              </a:path>
            </a:pathLst>
          </a:custGeom>
          <a:solidFill>
            <a:srgbClr val="81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15BA6-55F3-7D9A-C59E-C90B23A0D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786" y="5668288"/>
            <a:ext cx="1689100" cy="5588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E2793C1-EFAA-9FD1-AA87-67818D136CCF}"/>
              </a:ext>
            </a:extLst>
          </p:cNvPr>
          <p:cNvSpPr/>
          <p:nvPr/>
        </p:nvSpPr>
        <p:spPr>
          <a:xfrm>
            <a:off x="-9145" y="6126677"/>
            <a:ext cx="12266899" cy="758756"/>
          </a:xfrm>
          <a:prstGeom prst="rect">
            <a:avLst/>
          </a:prstGeom>
          <a:solidFill>
            <a:srgbClr val="81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90AA926E-8906-7EA0-5BD2-A468DD3578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10" y="6227088"/>
            <a:ext cx="3626722" cy="584306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C7A5AD8-74B5-5A5C-1E4E-7BC79DED9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E555-4FC5-CD4D-8BC2-3698C6BF6755}" type="slidenum">
              <a:rPr lang="en-US" smtClean="0"/>
              <a:t>9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F72C0D-89A2-B81F-159E-34572359572A}"/>
              </a:ext>
            </a:extLst>
          </p:cNvPr>
          <p:cNvSpPr txBox="1"/>
          <p:nvPr/>
        </p:nvSpPr>
        <p:spPr>
          <a:xfrm>
            <a:off x="-9145" y="136525"/>
            <a:ext cx="122011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spc="-150" dirty="0">
                <a:solidFill>
                  <a:srgbClr val="472365"/>
                </a:solidFill>
                <a:latin typeface="Trade Gothic LT Std Bold" panose="020B0503020502020204" pitchFamily="34" charset="77"/>
              </a:rPr>
              <a:t>Conditions</a:t>
            </a:r>
            <a:endParaRPr lang="en-US" sz="4000" b="1" spc="-150" dirty="0">
              <a:solidFill>
                <a:srgbClr val="472365"/>
              </a:solidFill>
              <a:latin typeface="Trade Gothic LT Std Bold" panose="020B0503020502020204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6ED24D-A298-E9A2-35E4-69F4DB76BBE9}"/>
              </a:ext>
            </a:extLst>
          </p:cNvPr>
          <p:cNvSpPr txBox="1"/>
          <p:nvPr/>
        </p:nvSpPr>
        <p:spPr>
          <a:xfrm>
            <a:off x="1429818" y="1827069"/>
            <a:ext cx="950502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72365"/>
                </a:solidFill>
                <a:latin typeface="Trade Gothic LT Std" panose="020B0503020502020204" pitchFamily="34" charset="77"/>
              </a:rPr>
              <a:t>Conditions for eliminating a load instruction:</a:t>
            </a:r>
          </a:p>
          <a:p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1. The address register has not changed</a:t>
            </a:r>
          </a:p>
          <a:p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      - Tracked by the RMT</a:t>
            </a:r>
          </a:p>
          <a:p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2. The memory location was not modified</a:t>
            </a:r>
          </a:p>
          <a:p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      - Tracked by the AMT</a:t>
            </a:r>
          </a:p>
        </p:txBody>
      </p:sp>
    </p:spTree>
    <p:extLst>
      <p:ext uri="{BB962C8B-B14F-4D97-AF65-F5344CB8AC3E}">
        <p14:creationId xmlns:p14="http://schemas.microsoft.com/office/powerpoint/2010/main" val="3851268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6385B-50C8-2DF6-7107-276C8C08A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1B992CB0-7C25-DB3A-944E-F0DBE846F252}"/>
              </a:ext>
            </a:extLst>
          </p:cNvPr>
          <p:cNvSpPr/>
          <p:nvPr/>
        </p:nvSpPr>
        <p:spPr>
          <a:xfrm>
            <a:off x="-31821" y="5702116"/>
            <a:ext cx="1728216" cy="576072"/>
          </a:xfrm>
          <a:custGeom>
            <a:avLst/>
            <a:gdLst>
              <a:gd name="connsiteX0" fmla="*/ 0 w 1728216"/>
              <a:gd name="connsiteY0" fmla="*/ 521208 h 576072"/>
              <a:gd name="connsiteX1" fmla="*/ 210312 w 1728216"/>
              <a:gd name="connsiteY1" fmla="*/ 265176 h 576072"/>
              <a:gd name="connsiteX2" fmla="*/ 292608 w 1728216"/>
              <a:gd name="connsiteY2" fmla="*/ 283464 h 576072"/>
              <a:gd name="connsiteX3" fmla="*/ 384048 w 1728216"/>
              <a:gd name="connsiteY3" fmla="*/ 118872 h 576072"/>
              <a:gd name="connsiteX4" fmla="*/ 457200 w 1728216"/>
              <a:gd name="connsiteY4" fmla="*/ 192024 h 576072"/>
              <a:gd name="connsiteX5" fmla="*/ 804672 w 1728216"/>
              <a:gd name="connsiteY5" fmla="*/ 0 h 576072"/>
              <a:gd name="connsiteX6" fmla="*/ 923544 w 1728216"/>
              <a:gd name="connsiteY6" fmla="*/ 36576 h 576072"/>
              <a:gd name="connsiteX7" fmla="*/ 1069848 w 1728216"/>
              <a:gd name="connsiteY7" fmla="*/ 128016 h 576072"/>
              <a:gd name="connsiteX8" fmla="*/ 1124712 w 1728216"/>
              <a:gd name="connsiteY8" fmla="*/ 210312 h 576072"/>
              <a:gd name="connsiteX9" fmla="*/ 1307592 w 1728216"/>
              <a:gd name="connsiteY9" fmla="*/ 91440 h 576072"/>
              <a:gd name="connsiteX10" fmla="*/ 1728216 w 1728216"/>
              <a:gd name="connsiteY10" fmla="*/ 576072 h 576072"/>
              <a:gd name="connsiteX11" fmla="*/ 0 w 1728216"/>
              <a:gd name="connsiteY11" fmla="*/ 521208 h 57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28216" h="576072">
                <a:moveTo>
                  <a:pt x="0" y="521208"/>
                </a:moveTo>
                <a:lnTo>
                  <a:pt x="210312" y="265176"/>
                </a:lnTo>
                <a:lnTo>
                  <a:pt x="292608" y="283464"/>
                </a:lnTo>
                <a:lnTo>
                  <a:pt x="384048" y="118872"/>
                </a:lnTo>
                <a:lnTo>
                  <a:pt x="457200" y="192024"/>
                </a:lnTo>
                <a:lnTo>
                  <a:pt x="804672" y="0"/>
                </a:lnTo>
                <a:lnTo>
                  <a:pt x="923544" y="36576"/>
                </a:lnTo>
                <a:lnTo>
                  <a:pt x="1069848" y="128016"/>
                </a:lnTo>
                <a:lnTo>
                  <a:pt x="1124712" y="210312"/>
                </a:lnTo>
                <a:lnTo>
                  <a:pt x="1307592" y="91440"/>
                </a:lnTo>
                <a:lnTo>
                  <a:pt x="1728216" y="576072"/>
                </a:lnTo>
                <a:lnTo>
                  <a:pt x="0" y="521208"/>
                </a:lnTo>
                <a:close/>
              </a:path>
            </a:pathLst>
          </a:custGeom>
          <a:solidFill>
            <a:srgbClr val="81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F9BEB2-18FF-5385-9CAC-9332C8DC1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786" y="5668288"/>
            <a:ext cx="1689100" cy="5588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9444C89-F96C-BB4F-702D-652FA3348395}"/>
              </a:ext>
            </a:extLst>
          </p:cNvPr>
          <p:cNvSpPr/>
          <p:nvPr/>
        </p:nvSpPr>
        <p:spPr>
          <a:xfrm>
            <a:off x="-9145" y="6126677"/>
            <a:ext cx="12266899" cy="758756"/>
          </a:xfrm>
          <a:prstGeom prst="rect">
            <a:avLst/>
          </a:prstGeom>
          <a:solidFill>
            <a:srgbClr val="81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6DE60C43-2164-F915-0DF6-C6C6D5C46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10" y="6227088"/>
            <a:ext cx="3626722" cy="584306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F951B93-161B-9B64-E926-30D3D84DA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E555-4FC5-CD4D-8BC2-3698C6BF6755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E93ADD-E2D2-694E-E842-8C46043F90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4144" y="26389"/>
            <a:ext cx="10617856" cy="610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920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1C742-17DC-F7C6-FC0C-462C0102B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35B37A-1CED-9E7C-9518-FB13941CD20D}"/>
              </a:ext>
            </a:extLst>
          </p:cNvPr>
          <p:cNvCxnSpPr>
            <a:cxnSpLocks/>
          </p:cNvCxnSpPr>
          <p:nvPr/>
        </p:nvCxnSpPr>
        <p:spPr>
          <a:xfrm>
            <a:off x="-74899" y="1313298"/>
            <a:ext cx="12365222" cy="0"/>
          </a:xfrm>
          <a:prstGeom prst="line">
            <a:avLst/>
          </a:prstGeom>
          <a:ln w="57150">
            <a:solidFill>
              <a:srgbClr val="4723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reeform 11">
            <a:extLst>
              <a:ext uri="{FF2B5EF4-FFF2-40B4-BE49-F238E27FC236}">
                <a16:creationId xmlns:a16="http://schemas.microsoft.com/office/drawing/2014/main" id="{7406EE36-5822-280F-374C-D9BA20F9E428}"/>
              </a:ext>
            </a:extLst>
          </p:cNvPr>
          <p:cNvSpPr/>
          <p:nvPr/>
        </p:nvSpPr>
        <p:spPr>
          <a:xfrm>
            <a:off x="-31821" y="5702116"/>
            <a:ext cx="1728216" cy="576072"/>
          </a:xfrm>
          <a:custGeom>
            <a:avLst/>
            <a:gdLst>
              <a:gd name="connsiteX0" fmla="*/ 0 w 1728216"/>
              <a:gd name="connsiteY0" fmla="*/ 521208 h 576072"/>
              <a:gd name="connsiteX1" fmla="*/ 210312 w 1728216"/>
              <a:gd name="connsiteY1" fmla="*/ 265176 h 576072"/>
              <a:gd name="connsiteX2" fmla="*/ 292608 w 1728216"/>
              <a:gd name="connsiteY2" fmla="*/ 283464 h 576072"/>
              <a:gd name="connsiteX3" fmla="*/ 384048 w 1728216"/>
              <a:gd name="connsiteY3" fmla="*/ 118872 h 576072"/>
              <a:gd name="connsiteX4" fmla="*/ 457200 w 1728216"/>
              <a:gd name="connsiteY4" fmla="*/ 192024 h 576072"/>
              <a:gd name="connsiteX5" fmla="*/ 804672 w 1728216"/>
              <a:gd name="connsiteY5" fmla="*/ 0 h 576072"/>
              <a:gd name="connsiteX6" fmla="*/ 923544 w 1728216"/>
              <a:gd name="connsiteY6" fmla="*/ 36576 h 576072"/>
              <a:gd name="connsiteX7" fmla="*/ 1069848 w 1728216"/>
              <a:gd name="connsiteY7" fmla="*/ 128016 h 576072"/>
              <a:gd name="connsiteX8" fmla="*/ 1124712 w 1728216"/>
              <a:gd name="connsiteY8" fmla="*/ 210312 h 576072"/>
              <a:gd name="connsiteX9" fmla="*/ 1307592 w 1728216"/>
              <a:gd name="connsiteY9" fmla="*/ 91440 h 576072"/>
              <a:gd name="connsiteX10" fmla="*/ 1728216 w 1728216"/>
              <a:gd name="connsiteY10" fmla="*/ 576072 h 576072"/>
              <a:gd name="connsiteX11" fmla="*/ 0 w 1728216"/>
              <a:gd name="connsiteY11" fmla="*/ 521208 h 57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28216" h="576072">
                <a:moveTo>
                  <a:pt x="0" y="521208"/>
                </a:moveTo>
                <a:lnTo>
                  <a:pt x="210312" y="265176"/>
                </a:lnTo>
                <a:lnTo>
                  <a:pt x="292608" y="283464"/>
                </a:lnTo>
                <a:lnTo>
                  <a:pt x="384048" y="118872"/>
                </a:lnTo>
                <a:lnTo>
                  <a:pt x="457200" y="192024"/>
                </a:lnTo>
                <a:lnTo>
                  <a:pt x="804672" y="0"/>
                </a:lnTo>
                <a:lnTo>
                  <a:pt x="923544" y="36576"/>
                </a:lnTo>
                <a:lnTo>
                  <a:pt x="1069848" y="128016"/>
                </a:lnTo>
                <a:lnTo>
                  <a:pt x="1124712" y="210312"/>
                </a:lnTo>
                <a:lnTo>
                  <a:pt x="1307592" y="91440"/>
                </a:lnTo>
                <a:lnTo>
                  <a:pt x="1728216" y="576072"/>
                </a:lnTo>
                <a:lnTo>
                  <a:pt x="0" y="521208"/>
                </a:lnTo>
                <a:close/>
              </a:path>
            </a:pathLst>
          </a:custGeom>
          <a:solidFill>
            <a:srgbClr val="81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44015A-5BD3-49D8-94D1-301180393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786" y="5668288"/>
            <a:ext cx="1689100" cy="5588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3F0520B-7047-F5CE-F68E-73B7A2B66D8E}"/>
              </a:ext>
            </a:extLst>
          </p:cNvPr>
          <p:cNvSpPr/>
          <p:nvPr/>
        </p:nvSpPr>
        <p:spPr>
          <a:xfrm>
            <a:off x="-9145" y="6126677"/>
            <a:ext cx="12266899" cy="758756"/>
          </a:xfrm>
          <a:prstGeom prst="rect">
            <a:avLst/>
          </a:prstGeom>
          <a:solidFill>
            <a:srgbClr val="81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D636A98A-1DE1-ED48-C123-B7B0D00886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10" y="6227088"/>
            <a:ext cx="3626722" cy="584306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ADE0692-03DB-2BD3-9A1F-5998AA654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E555-4FC5-CD4D-8BC2-3698C6BF6755}" type="slidenum">
              <a:rPr lang="en-US" smtClean="0"/>
              <a:t>11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4CD459-BCA4-2440-59E7-1FA319D5981D}"/>
              </a:ext>
            </a:extLst>
          </p:cNvPr>
          <p:cNvSpPr txBox="1"/>
          <p:nvPr/>
        </p:nvSpPr>
        <p:spPr>
          <a:xfrm>
            <a:off x="0" y="115932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spc="-150" dirty="0">
                <a:solidFill>
                  <a:srgbClr val="472365"/>
                </a:solidFill>
                <a:latin typeface="Trade Gothic LT Std Bold" panose="020B0503020502020204" pitchFamily="34" charset="77"/>
              </a:rPr>
              <a:t>Comparison</a:t>
            </a:r>
            <a:endParaRPr lang="en-US" sz="4000" b="1" spc="-150" dirty="0">
              <a:solidFill>
                <a:srgbClr val="472365"/>
              </a:solidFill>
              <a:latin typeface="Trade Gothic LT Std Bold" panose="020B0503020502020204" pitchFamily="34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958842C-E6D7-A2D5-C35D-EB8099E1372A}"/>
              </a:ext>
            </a:extLst>
          </p:cNvPr>
          <p:cNvGraphicFramePr>
            <a:graphicFrameLocks noGrp="1"/>
          </p:cNvGraphicFramePr>
          <p:nvPr/>
        </p:nvGraphicFramePr>
        <p:xfrm>
          <a:off x="575128" y="1919947"/>
          <a:ext cx="11041743" cy="31749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0581">
                  <a:extLst>
                    <a:ext uri="{9D8B030D-6E8A-4147-A177-3AD203B41FA5}">
                      <a16:colId xmlns:a16="http://schemas.microsoft.com/office/drawing/2014/main" val="3581350446"/>
                    </a:ext>
                  </a:extLst>
                </a:gridCol>
                <a:gridCol w="3680581">
                  <a:extLst>
                    <a:ext uri="{9D8B030D-6E8A-4147-A177-3AD203B41FA5}">
                      <a16:colId xmlns:a16="http://schemas.microsoft.com/office/drawing/2014/main" val="1210393961"/>
                    </a:ext>
                  </a:extLst>
                </a:gridCol>
                <a:gridCol w="3680581">
                  <a:extLst>
                    <a:ext uri="{9D8B030D-6E8A-4147-A177-3AD203B41FA5}">
                      <a16:colId xmlns:a16="http://schemas.microsoft.com/office/drawing/2014/main" val="1418087376"/>
                    </a:ext>
                  </a:extLst>
                </a:gridCol>
              </a:tblGrid>
              <a:tr h="562226">
                <a:tc>
                  <a:txBody>
                    <a:bodyPr/>
                    <a:lstStyle/>
                    <a:p>
                      <a:r>
                        <a:rPr lang="en-US" sz="2800" dirty="0"/>
                        <a:t>Technique</a:t>
                      </a:r>
                    </a:p>
                  </a:txBody>
                  <a:tcPr>
                    <a:solidFill>
                      <a:srgbClr val="814C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Idea</a:t>
                      </a:r>
                    </a:p>
                  </a:txBody>
                  <a:tcPr>
                    <a:solidFill>
                      <a:srgbClr val="814C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Limitation</a:t>
                      </a:r>
                    </a:p>
                  </a:txBody>
                  <a:tcPr>
                    <a:solidFill>
                      <a:srgbClr val="814C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753656"/>
                  </a:ext>
                </a:extLst>
              </a:tr>
              <a:tr h="562226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472365"/>
                          </a:solidFill>
                        </a:rPr>
                        <a:t>LVP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472365"/>
                          </a:solidFill>
                        </a:rPr>
                        <a:t>Predict Load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472365"/>
                          </a:solidFill>
                        </a:rPr>
                        <a:t>Load still executes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5990577"/>
                  </a:ext>
                </a:extLst>
              </a:tr>
              <a:tr h="1025235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472365"/>
                          </a:solidFill>
                        </a:rPr>
                        <a:t>MRN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472365"/>
                          </a:solidFill>
                        </a:rPr>
                        <a:t>Forward values from stores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472365"/>
                          </a:solidFill>
                        </a:rPr>
                        <a:t>Only works for store → load cases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139704"/>
                  </a:ext>
                </a:extLst>
              </a:tr>
              <a:tr h="1025235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472365"/>
                          </a:solidFill>
                        </a:rPr>
                        <a:t>Constable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472365"/>
                          </a:solidFill>
                        </a:rPr>
                        <a:t>Eliminate stable loads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472365"/>
                          </a:solidFill>
                        </a:rPr>
                        <a:t>Requires value stability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695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4895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3D39B-C410-B094-00F3-7F542BB7D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3D79E9-07E8-7156-4008-281A5FF48F3A}"/>
              </a:ext>
            </a:extLst>
          </p:cNvPr>
          <p:cNvCxnSpPr>
            <a:cxnSpLocks/>
          </p:cNvCxnSpPr>
          <p:nvPr/>
        </p:nvCxnSpPr>
        <p:spPr>
          <a:xfrm>
            <a:off x="-74899" y="1313298"/>
            <a:ext cx="12365222" cy="0"/>
          </a:xfrm>
          <a:prstGeom prst="line">
            <a:avLst/>
          </a:prstGeom>
          <a:ln w="57150">
            <a:solidFill>
              <a:srgbClr val="4723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reeform 11">
            <a:extLst>
              <a:ext uri="{FF2B5EF4-FFF2-40B4-BE49-F238E27FC236}">
                <a16:creationId xmlns:a16="http://schemas.microsoft.com/office/drawing/2014/main" id="{18754EBF-6996-CC14-4A19-FD6D23D06147}"/>
              </a:ext>
            </a:extLst>
          </p:cNvPr>
          <p:cNvSpPr/>
          <p:nvPr/>
        </p:nvSpPr>
        <p:spPr>
          <a:xfrm>
            <a:off x="-31821" y="5702116"/>
            <a:ext cx="1728216" cy="576072"/>
          </a:xfrm>
          <a:custGeom>
            <a:avLst/>
            <a:gdLst>
              <a:gd name="connsiteX0" fmla="*/ 0 w 1728216"/>
              <a:gd name="connsiteY0" fmla="*/ 521208 h 576072"/>
              <a:gd name="connsiteX1" fmla="*/ 210312 w 1728216"/>
              <a:gd name="connsiteY1" fmla="*/ 265176 h 576072"/>
              <a:gd name="connsiteX2" fmla="*/ 292608 w 1728216"/>
              <a:gd name="connsiteY2" fmla="*/ 283464 h 576072"/>
              <a:gd name="connsiteX3" fmla="*/ 384048 w 1728216"/>
              <a:gd name="connsiteY3" fmla="*/ 118872 h 576072"/>
              <a:gd name="connsiteX4" fmla="*/ 457200 w 1728216"/>
              <a:gd name="connsiteY4" fmla="*/ 192024 h 576072"/>
              <a:gd name="connsiteX5" fmla="*/ 804672 w 1728216"/>
              <a:gd name="connsiteY5" fmla="*/ 0 h 576072"/>
              <a:gd name="connsiteX6" fmla="*/ 923544 w 1728216"/>
              <a:gd name="connsiteY6" fmla="*/ 36576 h 576072"/>
              <a:gd name="connsiteX7" fmla="*/ 1069848 w 1728216"/>
              <a:gd name="connsiteY7" fmla="*/ 128016 h 576072"/>
              <a:gd name="connsiteX8" fmla="*/ 1124712 w 1728216"/>
              <a:gd name="connsiteY8" fmla="*/ 210312 h 576072"/>
              <a:gd name="connsiteX9" fmla="*/ 1307592 w 1728216"/>
              <a:gd name="connsiteY9" fmla="*/ 91440 h 576072"/>
              <a:gd name="connsiteX10" fmla="*/ 1728216 w 1728216"/>
              <a:gd name="connsiteY10" fmla="*/ 576072 h 576072"/>
              <a:gd name="connsiteX11" fmla="*/ 0 w 1728216"/>
              <a:gd name="connsiteY11" fmla="*/ 521208 h 57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28216" h="576072">
                <a:moveTo>
                  <a:pt x="0" y="521208"/>
                </a:moveTo>
                <a:lnTo>
                  <a:pt x="210312" y="265176"/>
                </a:lnTo>
                <a:lnTo>
                  <a:pt x="292608" y="283464"/>
                </a:lnTo>
                <a:lnTo>
                  <a:pt x="384048" y="118872"/>
                </a:lnTo>
                <a:lnTo>
                  <a:pt x="457200" y="192024"/>
                </a:lnTo>
                <a:lnTo>
                  <a:pt x="804672" y="0"/>
                </a:lnTo>
                <a:lnTo>
                  <a:pt x="923544" y="36576"/>
                </a:lnTo>
                <a:lnTo>
                  <a:pt x="1069848" y="128016"/>
                </a:lnTo>
                <a:lnTo>
                  <a:pt x="1124712" y="210312"/>
                </a:lnTo>
                <a:lnTo>
                  <a:pt x="1307592" y="91440"/>
                </a:lnTo>
                <a:lnTo>
                  <a:pt x="1728216" y="576072"/>
                </a:lnTo>
                <a:lnTo>
                  <a:pt x="0" y="521208"/>
                </a:lnTo>
                <a:close/>
              </a:path>
            </a:pathLst>
          </a:custGeom>
          <a:solidFill>
            <a:srgbClr val="81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22C97D-23EC-43F6-892F-8BA9BDB09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786" y="5668288"/>
            <a:ext cx="1689100" cy="5588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43C3177-DD61-CEE4-99A0-93860EBB0B77}"/>
              </a:ext>
            </a:extLst>
          </p:cNvPr>
          <p:cNvSpPr/>
          <p:nvPr/>
        </p:nvSpPr>
        <p:spPr>
          <a:xfrm>
            <a:off x="-9145" y="6126677"/>
            <a:ext cx="12266899" cy="758756"/>
          </a:xfrm>
          <a:prstGeom prst="rect">
            <a:avLst/>
          </a:prstGeom>
          <a:solidFill>
            <a:srgbClr val="81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DE243F9C-DE37-F83E-0B96-CC589F1026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10" y="6227088"/>
            <a:ext cx="3626722" cy="584306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D0983A4-5188-2704-CC0A-63B713706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E555-4FC5-CD4D-8BC2-3698C6BF6755}" type="slidenum">
              <a:rPr lang="en-US" smtClean="0"/>
              <a:t>12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B0A79E-2D52-B599-3834-251A8806BDC3}"/>
              </a:ext>
            </a:extLst>
          </p:cNvPr>
          <p:cNvSpPr txBox="1"/>
          <p:nvPr/>
        </p:nvSpPr>
        <p:spPr>
          <a:xfrm>
            <a:off x="0" y="115932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spc="-150" dirty="0">
                <a:solidFill>
                  <a:srgbClr val="472365"/>
                </a:solidFill>
                <a:latin typeface="Trade Gothic LT Std Bold" panose="020B0503020502020204" pitchFamily="34" charset="77"/>
              </a:rPr>
              <a:t>Performance</a:t>
            </a:r>
            <a:endParaRPr lang="en-US" sz="4000" b="1" spc="-150" dirty="0">
              <a:solidFill>
                <a:srgbClr val="472365"/>
              </a:solidFill>
              <a:latin typeface="Trade Gothic LT Std Bold" panose="020B0503020502020204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9EC996-4E86-EC30-CF7B-6A3A98DB45B7}"/>
              </a:ext>
            </a:extLst>
          </p:cNvPr>
          <p:cNvSpPr txBox="1"/>
          <p:nvPr/>
        </p:nvSpPr>
        <p:spPr>
          <a:xfrm>
            <a:off x="677415" y="1506285"/>
            <a:ext cx="1089377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Evaluation across 90 workloads from SPEC CPU 2017</a:t>
            </a:r>
            <a:endParaRPr lang="en-US" sz="3200" b="1" dirty="0">
              <a:solidFill>
                <a:srgbClr val="472365"/>
              </a:solidFill>
              <a:latin typeface="Trade Gothic LT Std" panose="020B0503020502020204" pitchFamily="34" charset="77"/>
            </a:endParaRPr>
          </a:p>
          <a:p>
            <a:endParaRPr lang="en-US" sz="3200" b="1" dirty="0">
              <a:solidFill>
                <a:srgbClr val="472365"/>
              </a:solidFill>
              <a:latin typeface="Trade Gothic LT Std" panose="020B0503020502020204" pitchFamily="34" charset="77"/>
            </a:endParaRPr>
          </a:p>
          <a:p>
            <a:r>
              <a:rPr lang="en-US" sz="3200" b="1" dirty="0">
                <a:solidFill>
                  <a:srgbClr val="472365"/>
                </a:solidFill>
                <a:latin typeface="Trade Gothic LT Std" panose="020B0503020502020204" pitchFamily="34" charset="77"/>
              </a:rPr>
              <a:t>Results: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+5.1% performance improvement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−3.4% dynamic power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+8.8% performance with Simultaneous Multithreading (SMT)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472365"/>
              </a:solidFill>
              <a:latin typeface="Trade Gothic LT Std" panose="020B0503020502020204" pitchFamily="34" charset="77"/>
            </a:endParaRPr>
          </a:p>
          <a:p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Hardware overhead: ~12 KB per core</a:t>
            </a:r>
          </a:p>
        </p:txBody>
      </p:sp>
    </p:spTree>
    <p:extLst>
      <p:ext uri="{BB962C8B-B14F-4D97-AF65-F5344CB8AC3E}">
        <p14:creationId xmlns:p14="http://schemas.microsoft.com/office/powerpoint/2010/main" val="1776046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C9866-5CB1-3E58-542A-0133583B1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CB994F9-9667-4067-4CF1-54705331FD1F}"/>
              </a:ext>
            </a:extLst>
          </p:cNvPr>
          <p:cNvCxnSpPr>
            <a:cxnSpLocks/>
          </p:cNvCxnSpPr>
          <p:nvPr/>
        </p:nvCxnSpPr>
        <p:spPr>
          <a:xfrm>
            <a:off x="-74899" y="1313298"/>
            <a:ext cx="12365222" cy="0"/>
          </a:xfrm>
          <a:prstGeom prst="line">
            <a:avLst/>
          </a:prstGeom>
          <a:ln w="57150">
            <a:solidFill>
              <a:srgbClr val="4723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reeform 11">
            <a:extLst>
              <a:ext uri="{FF2B5EF4-FFF2-40B4-BE49-F238E27FC236}">
                <a16:creationId xmlns:a16="http://schemas.microsoft.com/office/drawing/2014/main" id="{98A9822F-7F68-4AE3-9BBA-5F6703A29500}"/>
              </a:ext>
            </a:extLst>
          </p:cNvPr>
          <p:cNvSpPr/>
          <p:nvPr/>
        </p:nvSpPr>
        <p:spPr>
          <a:xfrm>
            <a:off x="-31821" y="5702116"/>
            <a:ext cx="1728216" cy="576072"/>
          </a:xfrm>
          <a:custGeom>
            <a:avLst/>
            <a:gdLst>
              <a:gd name="connsiteX0" fmla="*/ 0 w 1728216"/>
              <a:gd name="connsiteY0" fmla="*/ 521208 h 576072"/>
              <a:gd name="connsiteX1" fmla="*/ 210312 w 1728216"/>
              <a:gd name="connsiteY1" fmla="*/ 265176 h 576072"/>
              <a:gd name="connsiteX2" fmla="*/ 292608 w 1728216"/>
              <a:gd name="connsiteY2" fmla="*/ 283464 h 576072"/>
              <a:gd name="connsiteX3" fmla="*/ 384048 w 1728216"/>
              <a:gd name="connsiteY3" fmla="*/ 118872 h 576072"/>
              <a:gd name="connsiteX4" fmla="*/ 457200 w 1728216"/>
              <a:gd name="connsiteY4" fmla="*/ 192024 h 576072"/>
              <a:gd name="connsiteX5" fmla="*/ 804672 w 1728216"/>
              <a:gd name="connsiteY5" fmla="*/ 0 h 576072"/>
              <a:gd name="connsiteX6" fmla="*/ 923544 w 1728216"/>
              <a:gd name="connsiteY6" fmla="*/ 36576 h 576072"/>
              <a:gd name="connsiteX7" fmla="*/ 1069848 w 1728216"/>
              <a:gd name="connsiteY7" fmla="*/ 128016 h 576072"/>
              <a:gd name="connsiteX8" fmla="*/ 1124712 w 1728216"/>
              <a:gd name="connsiteY8" fmla="*/ 210312 h 576072"/>
              <a:gd name="connsiteX9" fmla="*/ 1307592 w 1728216"/>
              <a:gd name="connsiteY9" fmla="*/ 91440 h 576072"/>
              <a:gd name="connsiteX10" fmla="*/ 1728216 w 1728216"/>
              <a:gd name="connsiteY10" fmla="*/ 576072 h 576072"/>
              <a:gd name="connsiteX11" fmla="*/ 0 w 1728216"/>
              <a:gd name="connsiteY11" fmla="*/ 521208 h 57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28216" h="576072">
                <a:moveTo>
                  <a:pt x="0" y="521208"/>
                </a:moveTo>
                <a:lnTo>
                  <a:pt x="210312" y="265176"/>
                </a:lnTo>
                <a:lnTo>
                  <a:pt x="292608" y="283464"/>
                </a:lnTo>
                <a:lnTo>
                  <a:pt x="384048" y="118872"/>
                </a:lnTo>
                <a:lnTo>
                  <a:pt x="457200" y="192024"/>
                </a:lnTo>
                <a:lnTo>
                  <a:pt x="804672" y="0"/>
                </a:lnTo>
                <a:lnTo>
                  <a:pt x="923544" y="36576"/>
                </a:lnTo>
                <a:lnTo>
                  <a:pt x="1069848" y="128016"/>
                </a:lnTo>
                <a:lnTo>
                  <a:pt x="1124712" y="210312"/>
                </a:lnTo>
                <a:lnTo>
                  <a:pt x="1307592" y="91440"/>
                </a:lnTo>
                <a:lnTo>
                  <a:pt x="1728216" y="576072"/>
                </a:lnTo>
                <a:lnTo>
                  <a:pt x="0" y="521208"/>
                </a:lnTo>
                <a:close/>
              </a:path>
            </a:pathLst>
          </a:custGeom>
          <a:solidFill>
            <a:srgbClr val="81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EA2811-DCD5-145F-835D-A4E2B0850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786" y="5668288"/>
            <a:ext cx="1689100" cy="5588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66D9EBB-6793-A160-1DC3-ABADD500DECD}"/>
              </a:ext>
            </a:extLst>
          </p:cNvPr>
          <p:cNvSpPr/>
          <p:nvPr/>
        </p:nvSpPr>
        <p:spPr>
          <a:xfrm>
            <a:off x="-9145" y="6126677"/>
            <a:ext cx="12266899" cy="758756"/>
          </a:xfrm>
          <a:prstGeom prst="rect">
            <a:avLst/>
          </a:prstGeom>
          <a:solidFill>
            <a:srgbClr val="81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24EDEF33-B907-1F1E-8972-E2F3882F13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10" y="6227088"/>
            <a:ext cx="3626722" cy="584306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BCF624D-717E-1891-97D3-215F5E553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E555-4FC5-CD4D-8BC2-3698C6BF6755}" type="slidenum">
              <a:rPr lang="en-US" smtClean="0"/>
              <a:t>13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324374-CB60-1C3F-3C5F-08E6B04C790F}"/>
              </a:ext>
            </a:extLst>
          </p:cNvPr>
          <p:cNvSpPr txBox="1"/>
          <p:nvPr/>
        </p:nvSpPr>
        <p:spPr>
          <a:xfrm>
            <a:off x="-9144" y="115932"/>
            <a:ext cx="122011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spc="-150" dirty="0">
                <a:solidFill>
                  <a:srgbClr val="472365"/>
                </a:solidFill>
                <a:latin typeface="Trade Gothic LT Std Bold" panose="020B0503020502020204" pitchFamily="34" charset="77"/>
              </a:rPr>
              <a:t>Key Takeaways</a:t>
            </a:r>
            <a:endParaRPr lang="en-US" sz="4000" b="1" spc="-150" dirty="0">
              <a:solidFill>
                <a:srgbClr val="472365"/>
              </a:solidFill>
              <a:latin typeface="Trade Gothic LT Std Bold" panose="020B0503020502020204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04C58A-49D0-958F-F6E0-65AC4AAC4D79}"/>
              </a:ext>
            </a:extLst>
          </p:cNvPr>
          <p:cNvSpPr txBox="1"/>
          <p:nvPr/>
        </p:nvSpPr>
        <p:spPr>
          <a:xfrm>
            <a:off x="1157395" y="1629480"/>
            <a:ext cx="950502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Many loads repeatedly read unchanged values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Constable detects stable loads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Safely eliminates their execution</a:t>
            </a:r>
          </a:p>
          <a:p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Results: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Improved performance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Reduced power consumption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Minimal hardware cost</a:t>
            </a:r>
            <a:endParaRPr lang="en-US" sz="3600" dirty="0">
              <a:solidFill>
                <a:srgbClr val="472365"/>
              </a:solidFill>
              <a:latin typeface="Trade Gothic LT Std" panose="020B05030205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8721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31F1C-118E-CD94-E6C9-B7CF685ED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94D028-205A-6E3F-076D-E67BDEA0E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9467" y="-41975"/>
            <a:ext cx="12369790" cy="703270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515C896-3B0C-096E-C903-4ED3770AC55E}"/>
              </a:ext>
            </a:extLst>
          </p:cNvPr>
          <p:cNvSpPr/>
          <p:nvPr/>
        </p:nvSpPr>
        <p:spPr>
          <a:xfrm>
            <a:off x="-79467" y="2593516"/>
            <a:ext cx="9921558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8000" b="1" dirty="0">
                <a:solidFill>
                  <a:schemeClr val="bg1"/>
                </a:solidFill>
                <a:latin typeface="Trade Gothic LT Std Bold" panose="020B0503020502020204" pitchFamily="34" charset="77"/>
              </a:rPr>
              <a:t>Simulated Q&amp;A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C86FEB-9DAB-1BFB-7D6C-9A8E92305866}"/>
              </a:ext>
            </a:extLst>
          </p:cNvPr>
          <p:cNvSpPr/>
          <p:nvPr/>
        </p:nvSpPr>
        <p:spPr>
          <a:xfrm>
            <a:off x="9842090" y="-41975"/>
            <a:ext cx="2349910" cy="70327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black and white logo&#10;&#10;Description automatically generated">
            <a:extLst>
              <a:ext uri="{FF2B5EF4-FFF2-40B4-BE49-F238E27FC236}">
                <a16:creationId xmlns:a16="http://schemas.microsoft.com/office/drawing/2014/main" id="{F5234E53-B4E5-3AE8-0D55-D1BC26221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090" y="4788592"/>
            <a:ext cx="2334755" cy="182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793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36436-3F40-7CE4-1725-5754FD51E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C1C1F9-B081-F6B9-81CB-4D58D591CC0C}"/>
              </a:ext>
            </a:extLst>
          </p:cNvPr>
          <p:cNvCxnSpPr>
            <a:cxnSpLocks/>
          </p:cNvCxnSpPr>
          <p:nvPr/>
        </p:nvCxnSpPr>
        <p:spPr>
          <a:xfrm>
            <a:off x="-74899" y="1313298"/>
            <a:ext cx="12365222" cy="0"/>
          </a:xfrm>
          <a:prstGeom prst="line">
            <a:avLst/>
          </a:prstGeom>
          <a:ln w="57150">
            <a:solidFill>
              <a:srgbClr val="4723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reeform 11">
            <a:extLst>
              <a:ext uri="{FF2B5EF4-FFF2-40B4-BE49-F238E27FC236}">
                <a16:creationId xmlns:a16="http://schemas.microsoft.com/office/drawing/2014/main" id="{DAF579DE-FFBA-CDE4-4573-CD6BA0539739}"/>
              </a:ext>
            </a:extLst>
          </p:cNvPr>
          <p:cNvSpPr/>
          <p:nvPr/>
        </p:nvSpPr>
        <p:spPr>
          <a:xfrm>
            <a:off x="-31821" y="5702116"/>
            <a:ext cx="1728216" cy="576072"/>
          </a:xfrm>
          <a:custGeom>
            <a:avLst/>
            <a:gdLst>
              <a:gd name="connsiteX0" fmla="*/ 0 w 1728216"/>
              <a:gd name="connsiteY0" fmla="*/ 521208 h 576072"/>
              <a:gd name="connsiteX1" fmla="*/ 210312 w 1728216"/>
              <a:gd name="connsiteY1" fmla="*/ 265176 h 576072"/>
              <a:gd name="connsiteX2" fmla="*/ 292608 w 1728216"/>
              <a:gd name="connsiteY2" fmla="*/ 283464 h 576072"/>
              <a:gd name="connsiteX3" fmla="*/ 384048 w 1728216"/>
              <a:gd name="connsiteY3" fmla="*/ 118872 h 576072"/>
              <a:gd name="connsiteX4" fmla="*/ 457200 w 1728216"/>
              <a:gd name="connsiteY4" fmla="*/ 192024 h 576072"/>
              <a:gd name="connsiteX5" fmla="*/ 804672 w 1728216"/>
              <a:gd name="connsiteY5" fmla="*/ 0 h 576072"/>
              <a:gd name="connsiteX6" fmla="*/ 923544 w 1728216"/>
              <a:gd name="connsiteY6" fmla="*/ 36576 h 576072"/>
              <a:gd name="connsiteX7" fmla="*/ 1069848 w 1728216"/>
              <a:gd name="connsiteY7" fmla="*/ 128016 h 576072"/>
              <a:gd name="connsiteX8" fmla="*/ 1124712 w 1728216"/>
              <a:gd name="connsiteY8" fmla="*/ 210312 h 576072"/>
              <a:gd name="connsiteX9" fmla="*/ 1307592 w 1728216"/>
              <a:gd name="connsiteY9" fmla="*/ 91440 h 576072"/>
              <a:gd name="connsiteX10" fmla="*/ 1728216 w 1728216"/>
              <a:gd name="connsiteY10" fmla="*/ 576072 h 576072"/>
              <a:gd name="connsiteX11" fmla="*/ 0 w 1728216"/>
              <a:gd name="connsiteY11" fmla="*/ 521208 h 57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28216" h="576072">
                <a:moveTo>
                  <a:pt x="0" y="521208"/>
                </a:moveTo>
                <a:lnTo>
                  <a:pt x="210312" y="265176"/>
                </a:lnTo>
                <a:lnTo>
                  <a:pt x="292608" y="283464"/>
                </a:lnTo>
                <a:lnTo>
                  <a:pt x="384048" y="118872"/>
                </a:lnTo>
                <a:lnTo>
                  <a:pt x="457200" y="192024"/>
                </a:lnTo>
                <a:lnTo>
                  <a:pt x="804672" y="0"/>
                </a:lnTo>
                <a:lnTo>
                  <a:pt x="923544" y="36576"/>
                </a:lnTo>
                <a:lnTo>
                  <a:pt x="1069848" y="128016"/>
                </a:lnTo>
                <a:lnTo>
                  <a:pt x="1124712" y="210312"/>
                </a:lnTo>
                <a:lnTo>
                  <a:pt x="1307592" y="91440"/>
                </a:lnTo>
                <a:lnTo>
                  <a:pt x="1728216" y="576072"/>
                </a:lnTo>
                <a:lnTo>
                  <a:pt x="0" y="521208"/>
                </a:lnTo>
                <a:close/>
              </a:path>
            </a:pathLst>
          </a:custGeom>
          <a:solidFill>
            <a:srgbClr val="81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E98A8C-426A-E5FF-E684-5940CCA15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786" y="5668288"/>
            <a:ext cx="1689100" cy="5588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082EF20-F8E9-CCFA-6FD8-CCD5F39166F3}"/>
              </a:ext>
            </a:extLst>
          </p:cNvPr>
          <p:cNvSpPr/>
          <p:nvPr/>
        </p:nvSpPr>
        <p:spPr>
          <a:xfrm>
            <a:off x="-9145" y="6126677"/>
            <a:ext cx="12266899" cy="758756"/>
          </a:xfrm>
          <a:prstGeom prst="rect">
            <a:avLst/>
          </a:prstGeom>
          <a:solidFill>
            <a:srgbClr val="81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249D62F7-5851-2615-E772-72F3CDD34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10" y="6227088"/>
            <a:ext cx="3626722" cy="584306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0D5732F-AC75-4B74-3B1A-BBA0973E2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E555-4FC5-CD4D-8BC2-3698C6BF6755}" type="slidenum">
              <a:rPr lang="en-US" smtClean="0"/>
              <a:t>15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A704DC-82AE-F7DD-3FD1-6614CC73F0E4}"/>
              </a:ext>
            </a:extLst>
          </p:cNvPr>
          <p:cNvSpPr txBox="1"/>
          <p:nvPr/>
        </p:nvSpPr>
        <p:spPr>
          <a:xfrm>
            <a:off x="11712" y="321299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spc="-150" dirty="0">
                <a:solidFill>
                  <a:srgbClr val="472365"/>
                </a:solidFill>
                <a:latin typeface="Trade Gothic LT Std Bold" panose="020B0503020502020204" pitchFamily="34" charset="77"/>
              </a:rPr>
              <a:t>How is correctness ensured if memory values can change at any time?</a:t>
            </a:r>
            <a:endParaRPr lang="en-US" sz="2000" b="1" spc="-150" dirty="0">
              <a:solidFill>
                <a:srgbClr val="472365"/>
              </a:solidFill>
              <a:latin typeface="Trade Gothic LT Std Bold" panose="020B0503020502020204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92367F-E10E-D627-ED01-0248F727220B}"/>
              </a:ext>
            </a:extLst>
          </p:cNvPr>
          <p:cNvSpPr txBox="1"/>
          <p:nvPr/>
        </p:nvSpPr>
        <p:spPr>
          <a:xfrm>
            <a:off x="102784" y="1421734"/>
            <a:ext cx="596491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72365"/>
                </a:solidFill>
                <a:latin typeface="Trade Gothic LT Std" panose="020B0503020502020204" pitchFamily="34" charset="77"/>
              </a:rPr>
              <a:t>Register Monitor Table (RMT)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Tracks the registers used to compute the load address.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If any of those registers change, the load may reference a different memory location, so the load is executed normally again.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32F2A5-365B-72B5-3728-AC967C997DE3}"/>
              </a:ext>
            </a:extLst>
          </p:cNvPr>
          <p:cNvSpPr txBox="1"/>
          <p:nvPr/>
        </p:nvSpPr>
        <p:spPr>
          <a:xfrm>
            <a:off x="6124304" y="1421734"/>
            <a:ext cx="60676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72365"/>
                </a:solidFill>
                <a:latin typeface="Trade Gothic LT Std" panose="020B0503020502020204" pitchFamily="34" charset="77"/>
              </a:rPr>
              <a:t>Address Monitor Table (AMT)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Tracks the memory addresses associated with stable loads.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If a store writes to that address, the cached value becomes invalid and the load must be executed again.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1338E8-60D7-7646-F6D9-D17A21766CB4}"/>
              </a:ext>
            </a:extLst>
          </p:cNvPr>
          <p:cNvSpPr txBox="1"/>
          <p:nvPr/>
        </p:nvSpPr>
        <p:spPr>
          <a:xfrm>
            <a:off x="722196" y="4491622"/>
            <a:ext cx="106910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These safeguards ensure that loads are only eliminated when there is a high level of confidence that the value has not changed. </a:t>
            </a:r>
          </a:p>
        </p:txBody>
      </p:sp>
    </p:spTree>
    <p:extLst>
      <p:ext uri="{BB962C8B-B14F-4D97-AF65-F5344CB8AC3E}">
        <p14:creationId xmlns:p14="http://schemas.microsoft.com/office/powerpoint/2010/main" val="1196579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8470D-D306-7B60-A3E5-E371614D9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6B23468-8781-D7AE-F4DC-66002E42FDA9}"/>
              </a:ext>
            </a:extLst>
          </p:cNvPr>
          <p:cNvCxnSpPr>
            <a:cxnSpLocks/>
          </p:cNvCxnSpPr>
          <p:nvPr/>
        </p:nvCxnSpPr>
        <p:spPr>
          <a:xfrm>
            <a:off x="-74899" y="1313298"/>
            <a:ext cx="12365222" cy="0"/>
          </a:xfrm>
          <a:prstGeom prst="line">
            <a:avLst/>
          </a:prstGeom>
          <a:ln w="57150">
            <a:solidFill>
              <a:srgbClr val="4723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reeform 11">
            <a:extLst>
              <a:ext uri="{FF2B5EF4-FFF2-40B4-BE49-F238E27FC236}">
                <a16:creationId xmlns:a16="http://schemas.microsoft.com/office/drawing/2014/main" id="{158C881C-0E27-75FC-1C1F-F4746D1CB711}"/>
              </a:ext>
            </a:extLst>
          </p:cNvPr>
          <p:cNvSpPr/>
          <p:nvPr/>
        </p:nvSpPr>
        <p:spPr>
          <a:xfrm>
            <a:off x="-31821" y="5702116"/>
            <a:ext cx="1728216" cy="576072"/>
          </a:xfrm>
          <a:custGeom>
            <a:avLst/>
            <a:gdLst>
              <a:gd name="connsiteX0" fmla="*/ 0 w 1728216"/>
              <a:gd name="connsiteY0" fmla="*/ 521208 h 576072"/>
              <a:gd name="connsiteX1" fmla="*/ 210312 w 1728216"/>
              <a:gd name="connsiteY1" fmla="*/ 265176 h 576072"/>
              <a:gd name="connsiteX2" fmla="*/ 292608 w 1728216"/>
              <a:gd name="connsiteY2" fmla="*/ 283464 h 576072"/>
              <a:gd name="connsiteX3" fmla="*/ 384048 w 1728216"/>
              <a:gd name="connsiteY3" fmla="*/ 118872 h 576072"/>
              <a:gd name="connsiteX4" fmla="*/ 457200 w 1728216"/>
              <a:gd name="connsiteY4" fmla="*/ 192024 h 576072"/>
              <a:gd name="connsiteX5" fmla="*/ 804672 w 1728216"/>
              <a:gd name="connsiteY5" fmla="*/ 0 h 576072"/>
              <a:gd name="connsiteX6" fmla="*/ 923544 w 1728216"/>
              <a:gd name="connsiteY6" fmla="*/ 36576 h 576072"/>
              <a:gd name="connsiteX7" fmla="*/ 1069848 w 1728216"/>
              <a:gd name="connsiteY7" fmla="*/ 128016 h 576072"/>
              <a:gd name="connsiteX8" fmla="*/ 1124712 w 1728216"/>
              <a:gd name="connsiteY8" fmla="*/ 210312 h 576072"/>
              <a:gd name="connsiteX9" fmla="*/ 1307592 w 1728216"/>
              <a:gd name="connsiteY9" fmla="*/ 91440 h 576072"/>
              <a:gd name="connsiteX10" fmla="*/ 1728216 w 1728216"/>
              <a:gd name="connsiteY10" fmla="*/ 576072 h 576072"/>
              <a:gd name="connsiteX11" fmla="*/ 0 w 1728216"/>
              <a:gd name="connsiteY11" fmla="*/ 521208 h 57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28216" h="576072">
                <a:moveTo>
                  <a:pt x="0" y="521208"/>
                </a:moveTo>
                <a:lnTo>
                  <a:pt x="210312" y="265176"/>
                </a:lnTo>
                <a:lnTo>
                  <a:pt x="292608" y="283464"/>
                </a:lnTo>
                <a:lnTo>
                  <a:pt x="384048" y="118872"/>
                </a:lnTo>
                <a:lnTo>
                  <a:pt x="457200" y="192024"/>
                </a:lnTo>
                <a:lnTo>
                  <a:pt x="804672" y="0"/>
                </a:lnTo>
                <a:lnTo>
                  <a:pt x="923544" y="36576"/>
                </a:lnTo>
                <a:lnTo>
                  <a:pt x="1069848" y="128016"/>
                </a:lnTo>
                <a:lnTo>
                  <a:pt x="1124712" y="210312"/>
                </a:lnTo>
                <a:lnTo>
                  <a:pt x="1307592" y="91440"/>
                </a:lnTo>
                <a:lnTo>
                  <a:pt x="1728216" y="576072"/>
                </a:lnTo>
                <a:lnTo>
                  <a:pt x="0" y="521208"/>
                </a:lnTo>
                <a:close/>
              </a:path>
            </a:pathLst>
          </a:custGeom>
          <a:solidFill>
            <a:srgbClr val="81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EBACC7-03E5-FAC9-E180-50C0D7918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786" y="5668288"/>
            <a:ext cx="1689100" cy="5588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0BCA83D-B66F-D48D-6394-2832BD945207}"/>
              </a:ext>
            </a:extLst>
          </p:cNvPr>
          <p:cNvSpPr/>
          <p:nvPr/>
        </p:nvSpPr>
        <p:spPr>
          <a:xfrm>
            <a:off x="-9145" y="6126677"/>
            <a:ext cx="12266899" cy="758756"/>
          </a:xfrm>
          <a:prstGeom prst="rect">
            <a:avLst/>
          </a:prstGeom>
          <a:solidFill>
            <a:srgbClr val="81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CFA25869-3E00-734E-2D7E-1A9B76C23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10" y="6227088"/>
            <a:ext cx="3626722" cy="584306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8BEC1D2-CCF3-61BE-2367-6F55264BC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E555-4FC5-CD4D-8BC2-3698C6BF6755}" type="slidenum">
              <a:rPr lang="en-US" smtClean="0"/>
              <a:t>16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845A60-027D-BD9A-A074-899B7395129C}"/>
              </a:ext>
            </a:extLst>
          </p:cNvPr>
          <p:cNvSpPr txBox="1"/>
          <p:nvPr/>
        </p:nvSpPr>
        <p:spPr>
          <a:xfrm>
            <a:off x="0" y="28849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spc="-150" dirty="0">
                <a:solidFill>
                  <a:srgbClr val="472365"/>
                </a:solidFill>
                <a:latin typeface="Trade Gothic LT Std Bold" panose="020B0503020502020204" pitchFamily="34" charset="77"/>
              </a:rPr>
              <a:t>What types of workloads benefit the most from Constable?</a:t>
            </a:r>
            <a:endParaRPr lang="en-US" sz="2400" b="1" spc="-150" dirty="0">
              <a:solidFill>
                <a:srgbClr val="472365"/>
              </a:solidFill>
              <a:latin typeface="Trade Gothic LT Std Bold" panose="020B0503020502020204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35E1E-3CCC-FB18-A60F-87A1EEC0E098}"/>
              </a:ext>
            </a:extLst>
          </p:cNvPr>
          <p:cNvSpPr txBox="1"/>
          <p:nvPr/>
        </p:nvSpPr>
        <p:spPr>
          <a:xfrm>
            <a:off x="357119" y="1737860"/>
            <a:ext cx="1147776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Performs best in workloads where loads frequently read unchanged data from memory.</a:t>
            </a:r>
          </a:p>
          <a:p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Some examples include: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Loop-invariant variables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Configuration parameters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Constant lookup tables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Shared data structures or variables that rarely change</a:t>
            </a:r>
            <a:endParaRPr lang="en-US" sz="3600" dirty="0">
              <a:solidFill>
                <a:srgbClr val="472365"/>
              </a:solidFill>
              <a:latin typeface="Trade Gothic LT Std" panose="020B05030205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61130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108BA63-F386-F482-810D-AB73B4B01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A7AB5A7-069C-D683-4FB2-103AEB2F4FDF}"/>
              </a:ext>
            </a:extLst>
          </p:cNvPr>
          <p:cNvCxnSpPr>
            <a:cxnSpLocks/>
          </p:cNvCxnSpPr>
          <p:nvPr/>
        </p:nvCxnSpPr>
        <p:spPr>
          <a:xfrm>
            <a:off x="-74899" y="1313298"/>
            <a:ext cx="12365222" cy="0"/>
          </a:xfrm>
          <a:prstGeom prst="line">
            <a:avLst/>
          </a:prstGeom>
          <a:ln w="57150">
            <a:solidFill>
              <a:srgbClr val="4723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reeform 11">
            <a:extLst>
              <a:ext uri="{FF2B5EF4-FFF2-40B4-BE49-F238E27FC236}">
                <a16:creationId xmlns:a16="http://schemas.microsoft.com/office/drawing/2014/main" id="{6CA97F23-8F7C-EB1D-6AAE-A588A4F32294}"/>
              </a:ext>
            </a:extLst>
          </p:cNvPr>
          <p:cNvSpPr/>
          <p:nvPr/>
        </p:nvSpPr>
        <p:spPr>
          <a:xfrm>
            <a:off x="-31821" y="5702116"/>
            <a:ext cx="1728216" cy="576072"/>
          </a:xfrm>
          <a:custGeom>
            <a:avLst/>
            <a:gdLst>
              <a:gd name="connsiteX0" fmla="*/ 0 w 1728216"/>
              <a:gd name="connsiteY0" fmla="*/ 521208 h 576072"/>
              <a:gd name="connsiteX1" fmla="*/ 210312 w 1728216"/>
              <a:gd name="connsiteY1" fmla="*/ 265176 h 576072"/>
              <a:gd name="connsiteX2" fmla="*/ 292608 w 1728216"/>
              <a:gd name="connsiteY2" fmla="*/ 283464 h 576072"/>
              <a:gd name="connsiteX3" fmla="*/ 384048 w 1728216"/>
              <a:gd name="connsiteY3" fmla="*/ 118872 h 576072"/>
              <a:gd name="connsiteX4" fmla="*/ 457200 w 1728216"/>
              <a:gd name="connsiteY4" fmla="*/ 192024 h 576072"/>
              <a:gd name="connsiteX5" fmla="*/ 804672 w 1728216"/>
              <a:gd name="connsiteY5" fmla="*/ 0 h 576072"/>
              <a:gd name="connsiteX6" fmla="*/ 923544 w 1728216"/>
              <a:gd name="connsiteY6" fmla="*/ 36576 h 576072"/>
              <a:gd name="connsiteX7" fmla="*/ 1069848 w 1728216"/>
              <a:gd name="connsiteY7" fmla="*/ 128016 h 576072"/>
              <a:gd name="connsiteX8" fmla="*/ 1124712 w 1728216"/>
              <a:gd name="connsiteY8" fmla="*/ 210312 h 576072"/>
              <a:gd name="connsiteX9" fmla="*/ 1307592 w 1728216"/>
              <a:gd name="connsiteY9" fmla="*/ 91440 h 576072"/>
              <a:gd name="connsiteX10" fmla="*/ 1728216 w 1728216"/>
              <a:gd name="connsiteY10" fmla="*/ 576072 h 576072"/>
              <a:gd name="connsiteX11" fmla="*/ 0 w 1728216"/>
              <a:gd name="connsiteY11" fmla="*/ 521208 h 57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28216" h="576072">
                <a:moveTo>
                  <a:pt x="0" y="521208"/>
                </a:moveTo>
                <a:lnTo>
                  <a:pt x="210312" y="265176"/>
                </a:lnTo>
                <a:lnTo>
                  <a:pt x="292608" y="283464"/>
                </a:lnTo>
                <a:lnTo>
                  <a:pt x="384048" y="118872"/>
                </a:lnTo>
                <a:lnTo>
                  <a:pt x="457200" y="192024"/>
                </a:lnTo>
                <a:lnTo>
                  <a:pt x="804672" y="0"/>
                </a:lnTo>
                <a:lnTo>
                  <a:pt x="923544" y="36576"/>
                </a:lnTo>
                <a:lnTo>
                  <a:pt x="1069848" y="128016"/>
                </a:lnTo>
                <a:lnTo>
                  <a:pt x="1124712" y="210312"/>
                </a:lnTo>
                <a:lnTo>
                  <a:pt x="1307592" y="91440"/>
                </a:lnTo>
                <a:lnTo>
                  <a:pt x="1728216" y="576072"/>
                </a:lnTo>
                <a:lnTo>
                  <a:pt x="0" y="521208"/>
                </a:lnTo>
                <a:close/>
              </a:path>
            </a:pathLst>
          </a:custGeom>
          <a:solidFill>
            <a:srgbClr val="81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61EA9B-B1F0-0695-5124-778B6EBAB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786" y="5668288"/>
            <a:ext cx="1689100" cy="5588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A90D70-3114-5BF0-5792-A8D62B4B708E}"/>
              </a:ext>
            </a:extLst>
          </p:cNvPr>
          <p:cNvSpPr/>
          <p:nvPr/>
        </p:nvSpPr>
        <p:spPr>
          <a:xfrm>
            <a:off x="-9145" y="6126677"/>
            <a:ext cx="12266899" cy="758756"/>
          </a:xfrm>
          <a:prstGeom prst="rect">
            <a:avLst/>
          </a:prstGeom>
          <a:solidFill>
            <a:srgbClr val="81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577D0C6B-2053-A762-2A79-194FE88D1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10" y="6227088"/>
            <a:ext cx="3626722" cy="584306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21A6DA5-E038-9382-BCC1-C1B38CED6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E555-4FC5-CD4D-8BC2-3698C6BF6755}" type="slidenum">
              <a:rPr lang="en-US" smtClean="0"/>
              <a:t>17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BADDD0-6990-AAB2-9E07-DEC84BAF634C}"/>
              </a:ext>
            </a:extLst>
          </p:cNvPr>
          <p:cNvSpPr txBox="1"/>
          <p:nvPr/>
        </p:nvSpPr>
        <p:spPr>
          <a:xfrm>
            <a:off x="0" y="115932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spc="-150" dirty="0">
                <a:solidFill>
                  <a:srgbClr val="472365"/>
                </a:solidFill>
                <a:latin typeface="Trade Gothic LT Std Bold" panose="020B0503020502020204" pitchFamily="34" charset="77"/>
              </a:rPr>
              <a:t>Title</a:t>
            </a:r>
            <a:endParaRPr lang="en-US" sz="4000" b="1" spc="-150" dirty="0">
              <a:solidFill>
                <a:srgbClr val="472365"/>
              </a:solidFill>
              <a:latin typeface="Trade Gothic LT Std Bold" panose="020B0503020502020204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D43C76-A2E4-8B4E-981B-3940934F9981}"/>
              </a:ext>
            </a:extLst>
          </p:cNvPr>
          <p:cNvSpPr txBox="1"/>
          <p:nvPr/>
        </p:nvSpPr>
        <p:spPr>
          <a:xfrm>
            <a:off x="477171" y="1737860"/>
            <a:ext cx="95050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72365"/>
                </a:solidFill>
                <a:latin typeface="Trade Gothic LT Std" panose="020B0503020502020204" pitchFamily="34" charset="77"/>
              </a:rPr>
              <a:t>Content</a:t>
            </a:r>
            <a:endParaRPr lang="en-US" sz="3600" dirty="0">
              <a:solidFill>
                <a:srgbClr val="472365"/>
              </a:solidFill>
              <a:latin typeface="Trade Gothic LT Std" panose="020B05030205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37406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5077</TotalTime>
  <Words>1004</Words>
  <Application>Microsoft Office PowerPoint</Application>
  <PresentationFormat>Widescreen</PresentationFormat>
  <Paragraphs>166</Paragraphs>
  <Slides>17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Trade Gothic LT Std</vt:lpstr>
      <vt:lpstr>Trade Gothic LT Std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Brendon Simonsen</dc:creator>
  <cp:lastModifiedBy>Brendon Simonsen</cp:lastModifiedBy>
  <cp:revision>11</cp:revision>
  <dcterms:created xsi:type="dcterms:W3CDTF">2026-03-08T22:11:56Z</dcterms:created>
  <dcterms:modified xsi:type="dcterms:W3CDTF">2026-03-13T16:58:43Z</dcterms:modified>
</cp:coreProperties>
</file>